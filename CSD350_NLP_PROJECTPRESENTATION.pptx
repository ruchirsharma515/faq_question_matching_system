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3" r:id="rId5"/>
    <p:sldId id="302" r:id="rId6"/>
    <p:sldId id="303" r:id="rId7"/>
    <p:sldId id="301" r:id="rId8"/>
    <p:sldId id="300" r:id="rId9"/>
    <p:sldId id="299" r:id="rId10"/>
    <p:sldId id="308" r:id="rId11"/>
    <p:sldId id="307" r:id="rId12"/>
    <p:sldId id="306" r:id="rId13"/>
    <p:sldId id="305" r:id="rId14"/>
    <p:sldId id="297" r:id="rId15"/>
    <p:sldId id="304" r:id="rId16"/>
    <p:sldId id="296" r:id="rId17"/>
    <p:sldId id="30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p:scale>
          <a:sx n="62" d="100"/>
          <a:sy n="62" d="100"/>
        </p:scale>
        <p:origin x="1488" y="4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52A9AF-CE63-4A0D-91E5-A52F54CC072E}"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IN"/>
        </a:p>
      </dgm:t>
    </dgm:pt>
    <dgm:pt modelId="{00CEE551-F127-4B87-B26F-BB67D34D2487}">
      <dgm:prSet phldrT="[Text]" phldr="0"/>
      <dgm:spPr/>
      <dgm:t>
        <a:bodyPr/>
        <a:lstStyle/>
        <a:p>
          <a:r>
            <a:rPr lang="en-IN" dirty="0"/>
            <a:t>User Query	</a:t>
          </a:r>
        </a:p>
      </dgm:t>
    </dgm:pt>
    <dgm:pt modelId="{F187B4B5-A9CC-48E1-85B9-847BE9DD87DC}" type="parTrans" cxnId="{BAC62A2C-08BD-4B70-AFCA-AD44073227B4}">
      <dgm:prSet/>
      <dgm:spPr/>
      <dgm:t>
        <a:bodyPr/>
        <a:lstStyle/>
        <a:p>
          <a:endParaRPr lang="en-IN"/>
        </a:p>
      </dgm:t>
    </dgm:pt>
    <dgm:pt modelId="{9D07D310-F7FD-4911-AED9-22EE59ABDE57}" type="sibTrans" cxnId="{BAC62A2C-08BD-4B70-AFCA-AD44073227B4}">
      <dgm:prSet/>
      <dgm:spPr/>
      <dgm:t>
        <a:bodyPr/>
        <a:lstStyle/>
        <a:p>
          <a:endParaRPr lang="en-IN"/>
        </a:p>
      </dgm:t>
    </dgm:pt>
    <dgm:pt modelId="{454BC2C6-9C17-4912-A218-BFD738AE67C7}">
      <dgm:prSet phldrT="[Text]" phldr="0"/>
      <dgm:spPr/>
      <dgm:t>
        <a:bodyPr/>
        <a:lstStyle/>
        <a:p>
          <a:r>
            <a:rPr lang="en-IN" dirty="0"/>
            <a:t>Encoder </a:t>
          </a:r>
        </a:p>
      </dgm:t>
    </dgm:pt>
    <dgm:pt modelId="{AEEFDCA0-A0B6-4BDA-92E8-1D2C45A58061}" type="parTrans" cxnId="{976BBF77-B953-4D74-90B0-9BEAABBF9286}">
      <dgm:prSet/>
      <dgm:spPr/>
      <dgm:t>
        <a:bodyPr/>
        <a:lstStyle/>
        <a:p>
          <a:endParaRPr lang="en-IN"/>
        </a:p>
      </dgm:t>
    </dgm:pt>
    <dgm:pt modelId="{8C455BB0-3DDD-4DAA-AA26-8E7A4CBC07D0}" type="sibTrans" cxnId="{976BBF77-B953-4D74-90B0-9BEAABBF9286}">
      <dgm:prSet/>
      <dgm:spPr/>
      <dgm:t>
        <a:bodyPr/>
        <a:lstStyle/>
        <a:p>
          <a:endParaRPr lang="en-IN"/>
        </a:p>
      </dgm:t>
    </dgm:pt>
    <dgm:pt modelId="{CA37DB49-A578-4D6F-BFFD-05212B6A939C}">
      <dgm:prSet phldrT="[Text]" phldr="0"/>
      <dgm:spPr/>
      <dgm:t>
        <a:bodyPr/>
        <a:lstStyle/>
        <a:p>
          <a:r>
            <a:rPr lang="en-IN" dirty="0"/>
            <a:t>Embedding</a:t>
          </a:r>
        </a:p>
      </dgm:t>
    </dgm:pt>
    <dgm:pt modelId="{15382D12-BA2F-4BE9-8E42-336C8189DA75}" type="parTrans" cxnId="{82F23C65-B307-4B1D-8804-B98178538DA6}">
      <dgm:prSet/>
      <dgm:spPr/>
      <dgm:t>
        <a:bodyPr/>
        <a:lstStyle/>
        <a:p>
          <a:endParaRPr lang="en-IN"/>
        </a:p>
      </dgm:t>
    </dgm:pt>
    <dgm:pt modelId="{25707DE1-34D7-4893-A7DA-5DE14D663985}" type="sibTrans" cxnId="{82F23C65-B307-4B1D-8804-B98178538DA6}">
      <dgm:prSet/>
      <dgm:spPr/>
      <dgm:t>
        <a:bodyPr/>
        <a:lstStyle/>
        <a:p>
          <a:endParaRPr lang="en-IN"/>
        </a:p>
      </dgm:t>
    </dgm:pt>
    <dgm:pt modelId="{D633D462-DB2E-45A9-BEA6-E35C3119D8C9}">
      <dgm:prSet/>
      <dgm:spPr/>
      <dgm:t>
        <a:bodyPr/>
        <a:lstStyle/>
        <a:p>
          <a:r>
            <a:rPr lang="en-IN" dirty="0"/>
            <a:t>Similarity</a:t>
          </a:r>
        </a:p>
      </dgm:t>
    </dgm:pt>
    <dgm:pt modelId="{67FFEF18-2C8A-45D6-B3C4-E041EDA34E21}" type="parTrans" cxnId="{A2495033-5D66-4F50-B73D-56FD3FDD0089}">
      <dgm:prSet/>
      <dgm:spPr/>
    </dgm:pt>
    <dgm:pt modelId="{2BB095CF-4FBD-4273-9849-83560206C3F8}" type="sibTrans" cxnId="{A2495033-5D66-4F50-B73D-56FD3FDD0089}">
      <dgm:prSet/>
      <dgm:spPr/>
    </dgm:pt>
    <dgm:pt modelId="{B733F766-EA2B-42E1-A9DF-A9D3AC4CFF6F}">
      <dgm:prSet/>
      <dgm:spPr/>
      <dgm:t>
        <a:bodyPr/>
        <a:lstStyle/>
        <a:p>
          <a:r>
            <a:rPr lang="en-IN" dirty="0"/>
            <a:t>Answer </a:t>
          </a:r>
        </a:p>
      </dgm:t>
    </dgm:pt>
    <dgm:pt modelId="{A80DE0E8-307F-4B90-8AFB-24EF865A85EC}" type="parTrans" cxnId="{718A6668-ABE3-48B8-A0D9-29FBED1470C6}">
      <dgm:prSet/>
      <dgm:spPr/>
    </dgm:pt>
    <dgm:pt modelId="{4F7CADE4-D2E1-4E40-A746-030BCEDF3C37}" type="sibTrans" cxnId="{718A6668-ABE3-48B8-A0D9-29FBED1470C6}">
      <dgm:prSet/>
      <dgm:spPr/>
    </dgm:pt>
    <dgm:pt modelId="{976C895F-9C1E-4229-BD8D-1F8ED3944D7E}" type="pres">
      <dgm:prSet presAssocID="{7852A9AF-CE63-4A0D-91E5-A52F54CC072E}" presName="Name0" presStyleCnt="0">
        <dgm:presLayoutVars>
          <dgm:dir/>
          <dgm:animLvl val="lvl"/>
          <dgm:resizeHandles val="exact"/>
        </dgm:presLayoutVars>
      </dgm:prSet>
      <dgm:spPr/>
    </dgm:pt>
    <dgm:pt modelId="{CA1808D1-B1C6-4389-B89A-B0BB8706EE42}" type="pres">
      <dgm:prSet presAssocID="{00CEE551-F127-4B87-B26F-BB67D34D2487}" presName="parTxOnly" presStyleLbl="node1" presStyleIdx="0" presStyleCnt="5">
        <dgm:presLayoutVars>
          <dgm:chMax val="0"/>
          <dgm:chPref val="0"/>
          <dgm:bulletEnabled val="1"/>
        </dgm:presLayoutVars>
      </dgm:prSet>
      <dgm:spPr/>
    </dgm:pt>
    <dgm:pt modelId="{CF999338-CAB3-4DF1-9679-49194AE203F6}" type="pres">
      <dgm:prSet presAssocID="{9D07D310-F7FD-4911-AED9-22EE59ABDE57}" presName="parTxOnlySpace" presStyleCnt="0"/>
      <dgm:spPr/>
    </dgm:pt>
    <dgm:pt modelId="{036A1B8D-7874-4562-B9B4-EC5A537B8EBD}" type="pres">
      <dgm:prSet presAssocID="{454BC2C6-9C17-4912-A218-BFD738AE67C7}" presName="parTxOnly" presStyleLbl="node1" presStyleIdx="1" presStyleCnt="5">
        <dgm:presLayoutVars>
          <dgm:chMax val="0"/>
          <dgm:chPref val="0"/>
          <dgm:bulletEnabled val="1"/>
        </dgm:presLayoutVars>
      </dgm:prSet>
      <dgm:spPr/>
    </dgm:pt>
    <dgm:pt modelId="{41C02391-D200-4B83-A7DE-72B4512A146A}" type="pres">
      <dgm:prSet presAssocID="{8C455BB0-3DDD-4DAA-AA26-8E7A4CBC07D0}" presName="parTxOnlySpace" presStyleCnt="0"/>
      <dgm:spPr/>
    </dgm:pt>
    <dgm:pt modelId="{47C53873-07B4-40B2-B45B-74129E864858}" type="pres">
      <dgm:prSet presAssocID="{CA37DB49-A578-4D6F-BFFD-05212B6A939C}" presName="parTxOnly" presStyleLbl="node1" presStyleIdx="2" presStyleCnt="5">
        <dgm:presLayoutVars>
          <dgm:chMax val="0"/>
          <dgm:chPref val="0"/>
          <dgm:bulletEnabled val="1"/>
        </dgm:presLayoutVars>
      </dgm:prSet>
      <dgm:spPr/>
    </dgm:pt>
    <dgm:pt modelId="{DA1DD8B1-ADB7-4FA5-9E76-D021C11655EC}" type="pres">
      <dgm:prSet presAssocID="{25707DE1-34D7-4893-A7DA-5DE14D663985}" presName="parTxOnlySpace" presStyleCnt="0"/>
      <dgm:spPr/>
    </dgm:pt>
    <dgm:pt modelId="{0C25B73D-136D-4C9C-9F47-D4A2602D8495}" type="pres">
      <dgm:prSet presAssocID="{D633D462-DB2E-45A9-BEA6-E35C3119D8C9}" presName="parTxOnly" presStyleLbl="node1" presStyleIdx="3" presStyleCnt="5">
        <dgm:presLayoutVars>
          <dgm:chMax val="0"/>
          <dgm:chPref val="0"/>
          <dgm:bulletEnabled val="1"/>
        </dgm:presLayoutVars>
      </dgm:prSet>
      <dgm:spPr/>
    </dgm:pt>
    <dgm:pt modelId="{465A23B4-930F-4224-8FA6-0B0002C58058}" type="pres">
      <dgm:prSet presAssocID="{2BB095CF-4FBD-4273-9849-83560206C3F8}" presName="parTxOnlySpace" presStyleCnt="0"/>
      <dgm:spPr/>
    </dgm:pt>
    <dgm:pt modelId="{FE4571EC-2E28-4AA3-AC17-BEFD8E23BAE0}" type="pres">
      <dgm:prSet presAssocID="{B733F766-EA2B-42E1-A9DF-A9D3AC4CFF6F}" presName="parTxOnly" presStyleLbl="node1" presStyleIdx="4" presStyleCnt="5">
        <dgm:presLayoutVars>
          <dgm:chMax val="0"/>
          <dgm:chPref val="0"/>
          <dgm:bulletEnabled val="1"/>
        </dgm:presLayoutVars>
      </dgm:prSet>
      <dgm:spPr/>
    </dgm:pt>
  </dgm:ptLst>
  <dgm:cxnLst>
    <dgm:cxn modelId="{DB28E911-A258-4369-88E2-5BED33965128}" type="presOf" srcId="{7852A9AF-CE63-4A0D-91E5-A52F54CC072E}" destId="{976C895F-9C1E-4229-BD8D-1F8ED3944D7E}" srcOrd="0" destOrd="0" presId="urn:microsoft.com/office/officeart/2005/8/layout/chevron1"/>
    <dgm:cxn modelId="{BAC62A2C-08BD-4B70-AFCA-AD44073227B4}" srcId="{7852A9AF-CE63-4A0D-91E5-A52F54CC072E}" destId="{00CEE551-F127-4B87-B26F-BB67D34D2487}" srcOrd="0" destOrd="0" parTransId="{F187B4B5-A9CC-48E1-85B9-847BE9DD87DC}" sibTransId="{9D07D310-F7FD-4911-AED9-22EE59ABDE57}"/>
    <dgm:cxn modelId="{B98AA72D-C295-412D-B1E6-DFCBAD5E5FC8}" type="presOf" srcId="{B733F766-EA2B-42E1-A9DF-A9D3AC4CFF6F}" destId="{FE4571EC-2E28-4AA3-AC17-BEFD8E23BAE0}" srcOrd="0" destOrd="0" presId="urn:microsoft.com/office/officeart/2005/8/layout/chevron1"/>
    <dgm:cxn modelId="{A2495033-5D66-4F50-B73D-56FD3FDD0089}" srcId="{7852A9AF-CE63-4A0D-91E5-A52F54CC072E}" destId="{D633D462-DB2E-45A9-BEA6-E35C3119D8C9}" srcOrd="3" destOrd="0" parTransId="{67FFEF18-2C8A-45D6-B3C4-E041EDA34E21}" sibTransId="{2BB095CF-4FBD-4273-9849-83560206C3F8}"/>
    <dgm:cxn modelId="{CC25385F-38BB-48AD-A2AD-DAC5A0DD39DA}" type="presOf" srcId="{454BC2C6-9C17-4912-A218-BFD738AE67C7}" destId="{036A1B8D-7874-4562-B9B4-EC5A537B8EBD}" srcOrd="0" destOrd="0" presId="urn:microsoft.com/office/officeart/2005/8/layout/chevron1"/>
    <dgm:cxn modelId="{82F23C65-B307-4B1D-8804-B98178538DA6}" srcId="{7852A9AF-CE63-4A0D-91E5-A52F54CC072E}" destId="{CA37DB49-A578-4D6F-BFFD-05212B6A939C}" srcOrd="2" destOrd="0" parTransId="{15382D12-BA2F-4BE9-8E42-336C8189DA75}" sibTransId="{25707DE1-34D7-4893-A7DA-5DE14D663985}"/>
    <dgm:cxn modelId="{718A6668-ABE3-48B8-A0D9-29FBED1470C6}" srcId="{7852A9AF-CE63-4A0D-91E5-A52F54CC072E}" destId="{B733F766-EA2B-42E1-A9DF-A9D3AC4CFF6F}" srcOrd="4" destOrd="0" parTransId="{A80DE0E8-307F-4B90-8AFB-24EF865A85EC}" sibTransId="{4F7CADE4-D2E1-4E40-A746-030BCEDF3C37}"/>
    <dgm:cxn modelId="{C1CE3F73-AFB1-4BA0-850F-7EA567B045DC}" type="presOf" srcId="{00CEE551-F127-4B87-B26F-BB67D34D2487}" destId="{CA1808D1-B1C6-4389-B89A-B0BB8706EE42}" srcOrd="0" destOrd="0" presId="urn:microsoft.com/office/officeart/2005/8/layout/chevron1"/>
    <dgm:cxn modelId="{976BBF77-B953-4D74-90B0-9BEAABBF9286}" srcId="{7852A9AF-CE63-4A0D-91E5-A52F54CC072E}" destId="{454BC2C6-9C17-4912-A218-BFD738AE67C7}" srcOrd="1" destOrd="0" parTransId="{AEEFDCA0-A0B6-4BDA-92E8-1D2C45A58061}" sibTransId="{8C455BB0-3DDD-4DAA-AA26-8E7A4CBC07D0}"/>
    <dgm:cxn modelId="{B2B1A897-31C6-480B-80DB-5837FBBB11E7}" type="presOf" srcId="{D633D462-DB2E-45A9-BEA6-E35C3119D8C9}" destId="{0C25B73D-136D-4C9C-9F47-D4A2602D8495}" srcOrd="0" destOrd="0" presId="urn:microsoft.com/office/officeart/2005/8/layout/chevron1"/>
    <dgm:cxn modelId="{695E849B-C753-4F42-ABB9-D73D38ED5B48}" type="presOf" srcId="{CA37DB49-A578-4D6F-BFFD-05212B6A939C}" destId="{47C53873-07B4-40B2-B45B-74129E864858}" srcOrd="0" destOrd="0" presId="urn:microsoft.com/office/officeart/2005/8/layout/chevron1"/>
    <dgm:cxn modelId="{361ED43D-82D3-4627-8F49-04CDDF8D0637}" type="presParOf" srcId="{976C895F-9C1E-4229-BD8D-1F8ED3944D7E}" destId="{CA1808D1-B1C6-4389-B89A-B0BB8706EE42}" srcOrd="0" destOrd="0" presId="urn:microsoft.com/office/officeart/2005/8/layout/chevron1"/>
    <dgm:cxn modelId="{2A1AF623-9DAA-4613-94BD-49302D1BCBE0}" type="presParOf" srcId="{976C895F-9C1E-4229-BD8D-1F8ED3944D7E}" destId="{CF999338-CAB3-4DF1-9679-49194AE203F6}" srcOrd="1" destOrd="0" presId="urn:microsoft.com/office/officeart/2005/8/layout/chevron1"/>
    <dgm:cxn modelId="{F295FF85-6121-4BBE-982E-2C7945F7D1C2}" type="presParOf" srcId="{976C895F-9C1E-4229-BD8D-1F8ED3944D7E}" destId="{036A1B8D-7874-4562-B9B4-EC5A537B8EBD}" srcOrd="2" destOrd="0" presId="urn:microsoft.com/office/officeart/2005/8/layout/chevron1"/>
    <dgm:cxn modelId="{60B08C21-49B7-4328-BBAD-A2B38F67FC2A}" type="presParOf" srcId="{976C895F-9C1E-4229-BD8D-1F8ED3944D7E}" destId="{41C02391-D200-4B83-A7DE-72B4512A146A}" srcOrd="3" destOrd="0" presId="urn:microsoft.com/office/officeart/2005/8/layout/chevron1"/>
    <dgm:cxn modelId="{1488E098-6120-4FAD-B1A3-1B46B6163F65}" type="presParOf" srcId="{976C895F-9C1E-4229-BD8D-1F8ED3944D7E}" destId="{47C53873-07B4-40B2-B45B-74129E864858}" srcOrd="4" destOrd="0" presId="urn:microsoft.com/office/officeart/2005/8/layout/chevron1"/>
    <dgm:cxn modelId="{5CAF7E15-85F8-47F6-B0E7-EC2E6B56CECA}" type="presParOf" srcId="{976C895F-9C1E-4229-BD8D-1F8ED3944D7E}" destId="{DA1DD8B1-ADB7-4FA5-9E76-D021C11655EC}" srcOrd="5" destOrd="0" presId="urn:microsoft.com/office/officeart/2005/8/layout/chevron1"/>
    <dgm:cxn modelId="{CAE3669D-FB67-42B8-8273-A7D63A1B478F}" type="presParOf" srcId="{976C895F-9C1E-4229-BD8D-1F8ED3944D7E}" destId="{0C25B73D-136D-4C9C-9F47-D4A2602D8495}" srcOrd="6" destOrd="0" presId="urn:microsoft.com/office/officeart/2005/8/layout/chevron1"/>
    <dgm:cxn modelId="{A262233C-0AD3-4D54-A621-C4777C206FE6}" type="presParOf" srcId="{976C895F-9C1E-4229-BD8D-1F8ED3944D7E}" destId="{465A23B4-930F-4224-8FA6-0B0002C58058}" srcOrd="7" destOrd="0" presId="urn:microsoft.com/office/officeart/2005/8/layout/chevron1"/>
    <dgm:cxn modelId="{1D8C30A7-BB2F-4AC6-A2D9-E06E1C423F22}" type="presParOf" srcId="{976C895F-9C1E-4229-BD8D-1F8ED3944D7E}" destId="{FE4571EC-2E28-4AA3-AC17-BEFD8E23BAE0}"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808D1-B1C6-4389-B89A-B0BB8706EE42}">
      <dsp:nvSpPr>
        <dsp:cNvPr id="0" name=""/>
        <dsp:cNvSpPr/>
      </dsp:nvSpPr>
      <dsp:spPr>
        <a:xfrm>
          <a:off x="1984" y="2356114"/>
          <a:ext cx="1766093" cy="70643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IN" sz="1400" kern="1200" dirty="0"/>
            <a:t>User Query	</a:t>
          </a:r>
        </a:p>
      </dsp:txBody>
      <dsp:txXfrm>
        <a:off x="355203" y="2356114"/>
        <a:ext cx="1059656" cy="706437"/>
      </dsp:txXfrm>
    </dsp:sp>
    <dsp:sp modelId="{036A1B8D-7874-4562-B9B4-EC5A537B8EBD}">
      <dsp:nvSpPr>
        <dsp:cNvPr id="0" name=""/>
        <dsp:cNvSpPr/>
      </dsp:nvSpPr>
      <dsp:spPr>
        <a:xfrm>
          <a:off x="1591468" y="2356114"/>
          <a:ext cx="1766093" cy="70643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IN" sz="1400" kern="1200" dirty="0"/>
            <a:t>Encoder </a:t>
          </a:r>
        </a:p>
      </dsp:txBody>
      <dsp:txXfrm>
        <a:off x="1944687" y="2356114"/>
        <a:ext cx="1059656" cy="706437"/>
      </dsp:txXfrm>
    </dsp:sp>
    <dsp:sp modelId="{47C53873-07B4-40B2-B45B-74129E864858}">
      <dsp:nvSpPr>
        <dsp:cNvPr id="0" name=""/>
        <dsp:cNvSpPr/>
      </dsp:nvSpPr>
      <dsp:spPr>
        <a:xfrm>
          <a:off x="3180953" y="2356114"/>
          <a:ext cx="1766093" cy="70643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IN" sz="1400" kern="1200" dirty="0"/>
            <a:t>Embedding</a:t>
          </a:r>
        </a:p>
      </dsp:txBody>
      <dsp:txXfrm>
        <a:off x="3534172" y="2356114"/>
        <a:ext cx="1059656" cy="706437"/>
      </dsp:txXfrm>
    </dsp:sp>
    <dsp:sp modelId="{0C25B73D-136D-4C9C-9F47-D4A2602D8495}">
      <dsp:nvSpPr>
        <dsp:cNvPr id="0" name=""/>
        <dsp:cNvSpPr/>
      </dsp:nvSpPr>
      <dsp:spPr>
        <a:xfrm>
          <a:off x="4770437" y="2356114"/>
          <a:ext cx="1766093" cy="70643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IN" sz="1400" kern="1200" dirty="0"/>
            <a:t>Similarity</a:t>
          </a:r>
        </a:p>
      </dsp:txBody>
      <dsp:txXfrm>
        <a:off x="5123656" y="2356114"/>
        <a:ext cx="1059656" cy="706437"/>
      </dsp:txXfrm>
    </dsp:sp>
    <dsp:sp modelId="{FE4571EC-2E28-4AA3-AC17-BEFD8E23BAE0}">
      <dsp:nvSpPr>
        <dsp:cNvPr id="0" name=""/>
        <dsp:cNvSpPr/>
      </dsp:nvSpPr>
      <dsp:spPr>
        <a:xfrm>
          <a:off x="6359921" y="2356114"/>
          <a:ext cx="1766093" cy="70643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IN" sz="1400" kern="1200" dirty="0"/>
            <a:t>Answer </a:t>
          </a:r>
        </a:p>
      </dsp:txBody>
      <dsp:txXfrm>
        <a:off x="6713140" y="2356114"/>
        <a:ext cx="1059656" cy="706437"/>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5/25/2026</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471344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280400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5/25/2026</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157960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5/25/2026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819987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5/25/2026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537686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5/25/2026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71967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5/25/2026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4097824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5/25/2026</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268863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5/25/2026</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291304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203008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899999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5/25/2026</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1132156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73848-91FE-4D29-B0DC-BFC408416682}"/>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 y="-839"/>
            <a:ext cx="12191980" cy="6858000"/>
          </a:xfrm>
          <a:prstGeom prst="rect">
            <a:avLst/>
          </a:prstGeom>
        </p:spPr>
      </p:pic>
      <p:sp>
        <p:nvSpPr>
          <p:cNvPr id="89" name="Rectangle 8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5067"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91" name="Rectangle 90">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61010" y="1975104"/>
            <a:ext cx="5120640" cy="2907792"/>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6033793" y="2355458"/>
            <a:ext cx="4775075" cy="1630907"/>
          </a:xfrm>
        </p:spPr>
        <p:txBody>
          <a:bodyPr>
            <a:normAutofit fontScale="90000"/>
          </a:bodyPr>
          <a:lstStyle/>
          <a:p>
            <a:r>
              <a:rPr lang="en-US" sz="2800" b="1" dirty="0">
                <a:solidFill>
                  <a:schemeClr val="tx1"/>
                </a:solidFill>
              </a:rPr>
              <a:t>FAQ Matching System</a:t>
            </a:r>
            <a:br>
              <a:rPr lang="en-US" sz="2800" b="1" dirty="0">
                <a:solidFill>
                  <a:schemeClr val="tx1"/>
                </a:solidFill>
              </a:rPr>
            </a:br>
            <a:br>
              <a:rPr lang="en-US" sz="2400" dirty="0">
                <a:solidFill>
                  <a:schemeClr val="tx1"/>
                </a:solidFill>
              </a:rPr>
            </a:br>
            <a:r>
              <a:rPr lang="en-US" sz="2400" dirty="0" err="1">
                <a:solidFill>
                  <a:schemeClr val="tx1"/>
                </a:solidFill>
                <a:latin typeface="Times New Roman" panose="02020603050405020304" pitchFamily="18" charset="0"/>
                <a:cs typeface="Times New Roman" panose="02020603050405020304" pitchFamily="18" charset="0"/>
              </a:rPr>
              <a:t>csd</a:t>
            </a:r>
            <a:r>
              <a:rPr lang="en-US" sz="2400" dirty="0">
                <a:solidFill>
                  <a:schemeClr val="tx1"/>
                </a:solidFill>
                <a:latin typeface="Times New Roman" panose="02020603050405020304" pitchFamily="18" charset="0"/>
                <a:cs typeface="Times New Roman" panose="02020603050405020304" pitchFamily="18" charset="0"/>
              </a:rPr>
              <a:t> 350 </a:t>
            </a:r>
            <a:br>
              <a:rPr lang="en-US" sz="2400" dirty="0">
                <a:solidFill>
                  <a:schemeClr val="tx1"/>
                </a:solidFill>
                <a:latin typeface="Times New Roman" panose="02020603050405020304" pitchFamily="18" charset="0"/>
                <a:cs typeface="Times New Roman" panose="02020603050405020304" pitchFamily="18" charset="0"/>
              </a:rPr>
            </a:br>
            <a:r>
              <a:rPr lang="en-US" sz="2400" dirty="0">
                <a:solidFill>
                  <a:schemeClr val="tx1"/>
                </a:solidFill>
                <a:latin typeface="Times New Roman" panose="02020603050405020304" pitchFamily="18" charset="0"/>
                <a:cs typeface="Times New Roman" panose="02020603050405020304" pitchFamily="18" charset="0"/>
              </a:rPr>
              <a:t>Natural Language Processing</a:t>
            </a:r>
          </a:p>
        </p:txBody>
      </p:sp>
      <p:sp>
        <p:nvSpPr>
          <p:cNvPr id="3" name="Subtitle 2">
            <a:extLst>
              <a:ext uri="{FF2B5EF4-FFF2-40B4-BE49-F238E27FC236}">
                <a16:creationId xmlns:a16="http://schemas.microsoft.com/office/drawing/2014/main" id="{C8722DDC-8EEE-4A06-8DFE-B44871EAA2CF}"/>
              </a:ext>
            </a:extLst>
          </p:cNvPr>
          <p:cNvSpPr>
            <a:spLocks noGrp="1"/>
          </p:cNvSpPr>
          <p:nvPr>
            <p:ph type="subTitle" idx="1"/>
          </p:nvPr>
        </p:nvSpPr>
        <p:spPr>
          <a:xfrm>
            <a:off x="6033793" y="3995988"/>
            <a:ext cx="4775075" cy="559656"/>
          </a:xfrm>
        </p:spPr>
        <p:txBody>
          <a:bodyPr>
            <a:normAutofit/>
          </a:bodyPr>
          <a:lstStyle/>
          <a:p>
            <a:pPr>
              <a:spcAft>
                <a:spcPts val="600"/>
              </a:spcAft>
            </a:pPr>
            <a:r>
              <a:rPr lang="en-US" dirty="0">
                <a:solidFill>
                  <a:schemeClr val="tx1"/>
                </a:solidFill>
              </a:rPr>
              <a:t>Faculty Mentor- Dr. Pooja Singh</a:t>
            </a:r>
          </a:p>
        </p:txBody>
      </p:sp>
    </p:spTree>
    <p:extLst>
      <p:ext uri="{BB962C8B-B14F-4D97-AF65-F5344CB8AC3E}">
        <p14:creationId xmlns:p14="http://schemas.microsoft.com/office/powerpoint/2010/main" val="42696815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FC7FD-EFA8-602A-85BE-3C80A2261828}"/>
              </a:ext>
            </a:extLst>
          </p:cNvPr>
          <p:cNvSpPr>
            <a:spLocks noGrp="1"/>
          </p:cNvSpPr>
          <p:nvPr>
            <p:ph type="title"/>
          </p:nvPr>
        </p:nvSpPr>
        <p:spPr/>
        <p:txBody>
          <a:bodyPr/>
          <a:lstStyle/>
          <a:p>
            <a:r>
              <a:rPr lang="en-IN" dirty="0"/>
              <a:t>Motivation </a:t>
            </a:r>
          </a:p>
        </p:txBody>
      </p:sp>
      <p:sp>
        <p:nvSpPr>
          <p:cNvPr id="3" name="Content Placeholder 2">
            <a:extLst>
              <a:ext uri="{FF2B5EF4-FFF2-40B4-BE49-F238E27FC236}">
                <a16:creationId xmlns:a16="http://schemas.microsoft.com/office/drawing/2014/main" id="{8FBB2C66-2E85-4CBF-C5AB-8BB2DE7EFBB7}"/>
              </a:ext>
            </a:extLst>
          </p:cNvPr>
          <p:cNvSpPr>
            <a:spLocks noGrp="1"/>
          </p:cNvSpPr>
          <p:nvPr>
            <p:ph idx="1"/>
          </p:nvPr>
        </p:nvSpPr>
        <p:spPr/>
        <p:txBody>
          <a:bodyPr/>
          <a:lstStyle/>
          <a:p>
            <a:r>
              <a:rPr lang="en-IN" dirty="0"/>
              <a:t>The motivation behind this project is that many shipping companies receive High Volume repetitive queries because of which searching via Keyword fails without the semantic understanding because of which the question is not rightly answered thus creating a fuss.</a:t>
            </a:r>
          </a:p>
          <a:p>
            <a:r>
              <a:rPr lang="en-IN" dirty="0"/>
              <a:t>In our project we aim to develop a model that understands the semantic and the context of the question there by answering the question using confidence bounds. </a:t>
            </a:r>
          </a:p>
        </p:txBody>
      </p:sp>
    </p:spTree>
    <p:extLst>
      <p:ext uri="{BB962C8B-B14F-4D97-AF65-F5344CB8AC3E}">
        <p14:creationId xmlns:p14="http://schemas.microsoft.com/office/powerpoint/2010/main" val="1975330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C08C1-AAD6-ADF0-F9B6-46410196057F}"/>
              </a:ext>
            </a:extLst>
          </p:cNvPr>
          <p:cNvSpPr>
            <a:spLocks noGrp="1"/>
          </p:cNvSpPr>
          <p:nvPr>
            <p:ph type="title"/>
          </p:nvPr>
        </p:nvSpPr>
        <p:spPr/>
        <p:txBody>
          <a:bodyPr/>
          <a:lstStyle/>
          <a:p>
            <a:r>
              <a:rPr lang="en-IN" dirty="0"/>
              <a:t>How to deal with problem ?</a:t>
            </a:r>
          </a:p>
        </p:txBody>
      </p:sp>
      <p:sp>
        <p:nvSpPr>
          <p:cNvPr id="3" name="Content Placeholder 2">
            <a:extLst>
              <a:ext uri="{FF2B5EF4-FFF2-40B4-BE49-F238E27FC236}">
                <a16:creationId xmlns:a16="http://schemas.microsoft.com/office/drawing/2014/main" id="{01C7F979-B5D9-138F-26AC-AF0CFCE570CC}"/>
              </a:ext>
            </a:extLst>
          </p:cNvPr>
          <p:cNvSpPr>
            <a:spLocks noGrp="1"/>
          </p:cNvSpPr>
          <p:nvPr>
            <p:ph idx="1"/>
          </p:nvPr>
        </p:nvSpPr>
        <p:spPr/>
        <p:txBody>
          <a:bodyPr/>
          <a:lstStyle/>
          <a:p>
            <a:r>
              <a:rPr lang="en-IN" dirty="0"/>
              <a:t>To deal with this problem we use transformer embeddings </a:t>
            </a:r>
          </a:p>
          <a:p>
            <a:r>
              <a:rPr lang="en-IN" dirty="0"/>
              <a:t>Performing similarity search </a:t>
            </a:r>
          </a:p>
          <a:p>
            <a:r>
              <a:rPr lang="en-IN" dirty="0"/>
              <a:t>Generating Real Time Responses </a:t>
            </a:r>
          </a:p>
        </p:txBody>
      </p:sp>
    </p:spTree>
    <p:extLst>
      <p:ext uri="{BB962C8B-B14F-4D97-AF65-F5344CB8AC3E}">
        <p14:creationId xmlns:p14="http://schemas.microsoft.com/office/powerpoint/2010/main" val="2285233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988A0-ACA6-DD12-EE08-D8F5EEBB5788}"/>
              </a:ext>
            </a:extLst>
          </p:cNvPr>
          <p:cNvSpPr>
            <a:spLocks noGrp="1"/>
          </p:cNvSpPr>
          <p:nvPr>
            <p:ph type="title"/>
          </p:nvPr>
        </p:nvSpPr>
        <p:spPr/>
        <p:txBody>
          <a:bodyPr/>
          <a:lstStyle/>
          <a:p>
            <a:r>
              <a:rPr lang="en-IN" dirty="0"/>
              <a:t>System Pipeline </a:t>
            </a:r>
          </a:p>
        </p:txBody>
      </p:sp>
      <p:sp>
        <p:nvSpPr>
          <p:cNvPr id="3" name="Content Placeholder 2">
            <a:extLst>
              <a:ext uri="{FF2B5EF4-FFF2-40B4-BE49-F238E27FC236}">
                <a16:creationId xmlns:a16="http://schemas.microsoft.com/office/drawing/2014/main" id="{D7A14A0B-1482-E36C-7926-B8D3F6B611AB}"/>
              </a:ext>
            </a:extLst>
          </p:cNvPr>
          <p:cNvSpPr>
            <a:spLocks noGrp="1"/>
          </p:cNvSpPr>
          <p:nvPr>
            <p:ph idx="1"/>
          </p:nvPr>
        </p:nvSpPr>
        <p:spPr/>
        <p:txBody>
          <a:bodyPr/>
          <a:lstStyle/>
          <a:p>
            <a:r>
              <a:rPr lang="en-IN" dirty="0"/>
              <a:t>So we have developed end to end semantic retrieval system </a:t>
            </a:r>
          </a:p>
          <a:p>
            <a:pPr marL="0" indent="0">
              <a:buNone/>
            </a:pPr>
            <a:endParaRPr lang="en-IN" dirty="0"/>
          </a:p>
        </p:txBody>
      </p:sp>
      <p:graphicFrame>
        <p:nvGraphicFramePr>
          <p:cNvPr id="4" name="Diagram 3">
            <a:extLst>
              <a:ext uri="{FF2B5EF4-FFF2-40B4-BE49-F238E27FC236}">
                <a16:creationId xmlns:a16="http://schemas.microsoft.com/office/drawing/2014/main" id="{E264AD49-2341-22C6-E7FA-26F22CA05F37}"/>
              </a:ext>
            </a:extLst>
          </p:cNvPr>
          <p:cNvGraphicFramePr/>
          <p:nvPr>
            <p:extLst>
              <p:ext uri="{D42A27DB-BD31-4B8C-83A1-F6EECF244321}">
                <p14:modId xmlns:p14="http://schemas.microsoft.com/office/powerpoint/2010/main" val="2815081677"/>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18542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445E7-6D81-E70F-171B-90442F9762CF}"/>
              </a:ext>
            </a:extLst>
          </p:cNvPr>
          <p:cNvSpPr>
            <a:spLocks noGrp="1"/>
          </p:cNvSpPr>
          <p:nvPr>
            <p:ph type="title"/>
          </p:nvPr>
        </p:nvSpPr>
        <p:spPr/>
        <p:txBody>
          <a:bodyPr/>
          <a:lstStyle/>
          <a:p>
            <a:r>
              <a:rPr lang="en-IN" dirty="0"/>
              <a:t>Transformer Model : </a:t>
            </a:r>
            <a:r>
              <a:rPr lang="en-IN" dirty="0" err="1"/>
              <a:t>MiniLM</a:t>
            </a:r>
            <a:endParaRPr lang="en-IN" dirty="0"/>
          </a:p>
        </p:txBody>
      </p:sp>
      <p:pic>
        <p:nvPicPr>
          <p:cNvPr id="1026" name="Picture 2" descr="MiniLM - A Lazy Data Science Guide">
            <a:extLst>
              <a:ext uri="{FF2B5EF4-FFF2-40B4-BE49-F238E27FC236}">
                <a16:creationId xmlns:a16="http://schemas.microsoft.com/office/drawing/2014/main" id="{97539ACF-4C61-8546-48DD-51924B29E1D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1484" y="2103438"/>
            <a:ext cx="8549031" cy="3849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6976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4420B-C4B6-8900-4E24-018A15767605}"/>
              </a:ext>
            </a:extLst>
          </p:cNvPr>
          <p:cNvSpPr>
            <a:spLocks noGrp="1"/>
          </p:cNvSpPr>
          <p:nvPr>
            <p:ph type="title"/>
          </p:nvPr>
        </p:nvSpPr>
        <p:spPr/>
        <p:txBody>
          <a:bodyPr/>
          <a:lstStyle/>
          <a:p>
            <a:r>
              <a:rPr lang="en-IN" dirty="0"/>
              <a:t>Transformer Model : </a:t>
            </a:r>
            <a:r>
              <a:rPr lang="en-IN" dirty="0" err="1"/>
              <a:t>MiniLM</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2819B63-F9F5-7265-14CF-FB8D30E4D247}"/>
                  </a:ext>
                </a:extLst>
              </p:cNvPr>
              <p:cNvSpPr>
                <a:spLocks noGrp="1"/>
              </p:cNvSpPr>
              <p:nvPr>
                <p:ph idx="1"/>
              </p:nvPr>
            </p:nvSpPr>
            <p:spPr/>
            <p:txBody>
              <a:bodyPr>
                <a:normAutofit fontScale="92500" lnSpcReduction="10000"/>
              </a:bodyPr>
              <a:lstStyle/>
              <a:p>
                <a:r>
                  <a:rPr lang="en-US" b="1" dirty="0"/>
                  <a:t>1. Sentence Embedding Idea (Core Concept)</a:t>
                </a:r>
              </a:p>
              <a:p>
                <a:r>
                  <a:rPr lang="en-US" dirty="0"/>
                  <a:t>Each sentence is converted into a </a:t>
                </a:r>
                <a:r>
                  <a:rPr lang="en-US" b="1" dirty="0"/>
                  <a:t>dense vector representation</a:t>
                </a:r>
                <a:r>
                  <a:rPr lang="en-US" dirty="0"/>
                  <a:t> (embedding) </a:t>
                </a:r>
              </a:p>
              <a:p>
                <a:r>
                  <a:rPr lang="en-US" dirty="0"/>
                  <a:t>This vector captures </a:t>
                </a:r>
                <a:r>
                  <a:rPr lang="en-US" b="1" dirty="0"/>
                  <a:t>semantic meaning, not just words</a:t>
                </a:r>
                <a:r>
                  <a:rPr lang="en-US" dirty="0"/>
                  <a:t> </a:t>
                </a:r>
              </a:p>
              <a:p>
                <a:r>
                  <a:rPr lang="en-US" dirty="0"/>
                  <a:t>All queries + FAQs lie in the </a:t>
                </a:r>
                <a:r>
                  <a:rPr lang="en-US" b="1" dirty="0"/>
                  <a:t>same vector space</a:t>
                </a:r>
                <a:endParaRPr lang="en-US" dirty="0"/>
              </a:p>
              <a:p>
                <a:r>
                  <a:rPr lang="en-IN" b="1" dirty="0"/>
                  <a:t>2. Transformer Output → Token Embeddings</a:t>
                </a:r>
              </a:p>
              <a:p>
                <a:r>
                  <a:rPr lang="en-IN" dirty="0"/>
                  <a:t>After passing text through </a:t>
                </a:r>
                <a:r>
                  <a:rPr lang="en-IN" dirty="0" err="1"/>
                  <a:t>MiniLM</a:t>
                </a:r>
                <a:r>
                  <a:rPr lang="en-IN" dirty="0"/>
                  <a:t>:</a:t>
                </a:r>
              </a:p>
              <a:p>
                <a:r>
                  <a:rPr lang="en-IN" dirty="0"/>
                  <a:t>We get embeddings for each token: </a:t>
                </a:r>
              </a:p>
              <a:p>
                <a14:m>
                  <m:oMath xmlns:m="http://schemas.openxmlformats.org/officeDocument/2006/math">
                    <m:sSub>
                      <m:sSubPr>
                        <m:ctrlPr>
                          <a:rPr lang="ar-AE" b="1" i="1">
                            <a:latin typeface="Cambria Math" panose="02040503050406030204" pitchFamily="18" charset="0"/>
                          </a:rPr>
                        </m:ctrlPr>
                      </m:sSubPr>
                      <m:e>
                        <m:r>
                          <a:rPr lang="ar-AE" b="1">
                            <a:latin typeface="Cambria Math" panose="02040503050406030204" pitchFamily="18" charset="0"/>
                          </a:rPr>
                          <m:t>𝐡</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b="1">
                            <a:latin typeface="Cambria Math" panose="02040503050406030204" pitchFamily="18" charset="0"/>
                          </a:rPr>
                          <m:t>𝐡</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b="1">
                            <a:latin typeface="Cambria Math" panose="02040503050406030204" pitchFamily="18" charset="0"/>
                          </a:rPr>
                          <m:t>𝐡</m:t>
                        </m:r>
                      </m:e>
                      <m:sub>
                        <m:r>
                          <a:rPr lang="ar-AE" i="1">
                            <a:latin typeface="Cambria Math" panose="02040503050406030204" pitchFamily="18" charset="0"/>
                          </a:rPr>
                          <m:t>𝑛</m:t>
                        </m:r>
                      </m:sub>
                    </m:sSub>
                  </m:oMath>
                </a14:m>
                <a:endParaRPr lang="ar-AE" b="0" dirty="0"/>
              </a:p>
              <a:p>
                <a:r>
                  <a:rPr lang="en-IN" dirty="0"/>
                  <a:t>Where:</a:t>
                </a:r>
              </a:p>
              <a:p>
                <a14:m>
                  <m:oMath xmlns:m="http://schemas.openxmlformats.org/officeDocument/2006/math">
                    <m:r>
                      <a:rPr lang="en-IN" i="1">
                        <a:latin typeface="Cambria Math" panose="02040503050406030204" pitchFamily="18" charset="0"/>
                      </a:rPr>
                      <m:t>𝑛</m:t>
                    </m:r>
                  </m:oMath>
                </a14:m>
                <a:r>
                  <a:rPr lang="en-IN" dirty="0"/>
                  <a:t>= number of tokens </a:t>
                </a:r>
              </a:p>
              <a:p>
                <a:r>
                  <a:rPr lang="en-IN" dirty="0"/>
                  <a:t>Each </a:t>
                </a:r>
                <a14:m>
                  <m:oMath xmlns:m="http://schemas.openxmlformats.org/officeDocument/2006/math">
                    <m:sSub>
                      <m:sSubPr>
                        <m:ctrlPr>
                          <a:rPr lang="ar-AE" b="1" i="1">
                            <a:latin typeface="Cambria Math" panose="02040503050406030204" pitchFamily="18" charset="0"/>
                          </a:rPr>
                        </m:ctrlPr>
                      </m:sSubPr>
                      <m:e>
                        <m:r>
                          <a:rPr lang="ar-AE" b="1">
                            <a:latin typeface="Cambria Math" panose="02040503050406030204" pitchFamily="18" charset="0"/>
                          </a:rPr>
                          <m:t>𝐡</m:t>
                        </m:r>
                      </m:e>
                      <m:sub>
                        <m:r>
                          <a:rPr lang="ar-AE" i="1">
                            <a:latin typeface="Cambria Math" panose="02040503050406030204" pitchFamily="18" charset="0"/>
                          </a:rPr>
                          <m:t>𝑖</m:t>
                        </m:r>
                      </m:sub>
                    </m:sSub>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ℝ</m:t>
                        </m:r>
                      </m:e>
                      <m:sup>
                        <m:r>
                          <a:rPr lang="ar-AE">
                            <a:latin typeface="Cambria Math" panose="02040503050406030204" pitchFamily="18" charset="0"/>
                          </a:rPr>
                          <m:t>384</m:t>
                        </m:r>
                      </m:sup>
                    </m:sSup>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52819B63-F9F5-7265-14CF-FB8D30E4D247}"/>
                  </a:ext>
                </a:extLst>
              </p:cNvPr>
              <p:cNvSpPr>
                <a:spLocks noGrp="1" noRot="1" noChangeAspect="1" noMove="1" noResize="1" noEditPoints="1" noAdjustHandles="1" noChangeArrowheads="1" noChangeShapeType="1" noTextEdit="1"/>
              </p:cNvSpPr>
              <p:nvPr>
                <p:ph idx="1"/>
              </p:nvPr>
            </p:nvSpPr>
            <p:spPr>
              <a:blipFill>
                <a:blip r:embed="rId2"/>
                <a:stretch>
                  <a:fillRect l="-121" t="-316"/>
                </a:stretch>
              </a:blipFill>
            </p:spPr>
            <p:txBody>
              <a:bodyPr/>
              <a:lstStyle/>
              <a:p>
                <a:r>
                  <a:rPr lang="en-IN">
                    <a:noFill/>
                  </a:rPr>
                  <a:t> </a:t>
                </a:r>
              </a:p>
            </p:txBody>
          </p:sp>
        </mc:Fallback>
      </mc:AlternateContent>
    </p:spTree>
    <p:extLst>
      <p:ext uri="{BB962C8B-B14F-4D97-AF65-F5344CB8AC3E}">
        <p14:creationId xmlns:p14="http://schemas.microsoft.com/office/powerpoint/2010/main" val="1349174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488F4-8EDC-E1AC-402F-4A11853A515F}"/>
              </a:ext>
            </a:extLst>
          </p:cNvPr>
          <p:cNvSpPr>
            <a:spLocks noGrp="1"/>
          </p:cNvSpPr>
          <p:nvPr>
            <p:ph type="title"/>
          </p:nvPr>
        </p:nvSpPr>
        <p:spPr/>
        <p:txBody>
          <a:bodyPr/>
          <a:lstStyle/>
          <a:p>
            <a:r>
              <a:rPr lang="en-IN" dirty="0"/>
              <a:t>Transformer Model : </a:t>
            </a:r>
            <a:r>
              <a:rPr lang="en-IN" dirty="0" err="1"/>
              <a:t>MiniLM</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C792BE-E355-338D-34C9-71FEEA826F94}"/>
                  </a:ext>
                </a:extLst>
              </p:cNvPr>
              <p:cNvSpPr>
                <a:spLocks noGrp="1"/>
              </p:cNvSpPr>
              <p:nvPr>
                <p:ph idx="1"/>
              </p:nvPr>
            </p:nvSpPr>
            <p:spPr/>
            <p:txBody>
              <a:bodyPr>
                <a:normAutofit fontScale="92500" lnSpcReduction="10000"/>
              </a:bodyPr>
              <a:lstStyle/>
              <a:p>
                <a:r>
                  <a:rPr lang="en-IN" b="1" dirty="0"/>
                  <a:t>3. Mean Pooling (VERY IMPORTANT)</a:t>
                </a:r>
              </a:p>
              <a:p>
                <a:r>
                  <a:rPr lang="en-IN" dirty="0"/>
                  <a:t>To convert token embeddings → sentence embedding:</a:t>
                </a:r>
              </a:p>
              <a:p>
                <a14:m>
                  <m:oMath xmlns:m="http://schemas.openxmlformats.org/officeDocument/2006/math">
                    <m:r>
                      <a:rPr lang="en-IN" b="1">
                        <a:latin typeface="Cambria Math" panose="02040503050406030204" pitchFamily="18" charset="0"/>
                      </a:rPr>
                      <m:t>𝐞</m:t>
                    </m:r>
                    <m:r>
                      <a:rPr lang="en-IN">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i="1">
                            <a:latin typeface="Cambria Math" panose="02040503050406030204" pitchFamily="18" charset="0"/>
                          </a:rPr>
                          <m:t>𝑛</m:t>
                        </m:r>
                      </m:den>
                    </m:f>
                    <m:nary>
                      <m:naryPr>
                        <m:chr m:val="∑"/>
                        <m:limLoc m:val="subSup"/>
                        <m:grow m:val="on"/>
                        <m:ctrlPr>
                          <a:rPr lang="ar-AE" i="1">
                            <a:latin typeface="Cambria Math" panose="02040503050406030204" pitchFamily="18" charset="0"/>
                          </a:rPr>
                        </m:ctrlPr>
                      </m:naryPr>
                      <m:sub>
                        <m:r>
                          <a:rPr lang="ar-AE" i="1">
                            <a:latin typeface="Cambria Math" panose="02040503050406030204" pitchFamily="18" charset="0"/>
                          </a:rPr>
                          <m:t>𝑖</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𝑛</m:t>
                        </m:r>
                      </m:sup>
                      <m:e>
                        <m:sSub>
                          <m:sSubPr>
                            <m:ctrlPr>
                              <a:rPr lang="ar-AE" i="1">
                                <a:latin typeface="Cambria Math" panose="02040503050406030204" pitchFamily="18" charset="0"/>
                              </a:rPr>
                            </m:ctrlPr>
                          </m:sSubPr>
                          <m:e>
                            <m:r>
                              <a:rPr lang="ar-AE" b="1">
                                <a:latin typeface="Cambria Math" panose="02040503050406030204" pitchFamily="18" charset="0"/>
                              </a:rPr>
                              <m:t>𝐡</m:t>
                            </m:r>
                          </m:e>
                          <m:sub>
                            <m:r>
                              <a:rPr lang="ar-AE" i="1">
                                <a:latin typeface="Cambria Math" panose="02040503050406030204" pitchFamily="18" charset="0"/>
                              </a:rPr>
                              <m:t>𝑖</m:t>
                            </m:r>
                          </m:sub>
                        </m:sSub>
                      </m:e>
                    </m:nary>
                  </m:oMath>
                </a14:m>
                <a:endParaRPr lang="ar-AE" dirty="0"/>
              </a:p>
              <a:p>
                <a:r>
                  <a:rPr lang="en-IN" dirty="0"/>
                  <a:t>This gives a </a:t>
                </a:r>
                <a:r>
                  <a:rPr lang="en-IN" b="1" dirty="0"/>
                  <a:t>single vector representation</a:t>
                </a:r>
                <a:r>
                  <a:rPr lang="en-IN" dirty="0"/>
                  <a:t> </a:t>
                </a:r>
              </a:p>
              <a:p>
                <a:r>
                  <a:rPr lang="en-IN" dirty="0"/>
                  <a:t>Works best for semantic similarity tasks</a:t>
                </a:r>
              </a:p>
              <a:p>
                <a:r>
                  <a:rPr lang="en-IN" b="1" dirty="0"/>
                  <a:t>4. Sentence Transformer Architecture (Bi-Encoder)</a:t>
                </a:r>
              </a:p>
              <a:p>
                <a:r>
                  <a:rPr lang="en-IN" dirty="0"/>
                  <a:t>Two sentences encoded </a:t>
                </a:r>
                <a:r>
                  <a:rPr lang="en-IN" b="1" dirty="0"/>
                  <a:t>independently</a:t>
                </a:r>
                <a:r>
                  <a:rPr lang="en-IN" dirty="0"/>
                  <a:t> </a:t>
                </a:r>
              </a:p>
              <a:p>
                <a:r>
                  <a:rPr lang="en-IN" dirty="0"/>
                  <a:t>Same model weights (shared encoder) </a:t>
                </a:r>
              </a:p>
              <a:p>
                <a14:m>
                  <m:oMath xmlns:m="http://schemas.openxmlformats.org/officeDocument/2006/math">
                    <m:r>
                      <m:rPr>
                        <m:nor/>
                      </m:rPr>
                      <a:rPr lang="en-IN" b="0"/>
                      <m:t>Sentence</m:t>
                    </m:r>
                    <m:r>
                      <m:rPr>
                        <m:nor/>
                      </m:rPr>
                      <a:rPr lang="en-IN" b="0" i="1"/>
                      <m:t> </m:t>
                    </m:r>
                    <m:r>
                      <m:rPr>
                        <m:nor/>
                      </m:rPr>
                      <a:rPr lang="en-IN" b="0" i="1"/>
                      <m:t>A</m:t>
                    </m:r>
                    <m:r>
                      <a:rPr lang="en-IN">
                        <a:latin typeface="Cambria Math" panose="02040503050406030204" pitchFamily="18" charset="0"/>
                      </a:rPr>
                      <m:t>→</m:t>
                    </m:r>
                    <m:sSub>
                      <m:sSubPr>
                        <m:ctrlPr>
                          <a:rPr lang="ar-AE" i="1">
                            <a:latin typeface="Cambria Math" panose="02040503050406030204" pitchFamily="18" charset="0"/>
                          </a:rPr>
                        </m:ctrlPr>
                      </m:sSubPr>
                      <m:e>
                        <m:r>
                          <a:rPr lang="ar-AE" b="1">
                            <a:latin typeface="Cambria Math" panose="02040503050406030204" pitchFamily="18" charset="0"/>
                          </a:rPr>
                          <m:t>𝐞</m:t>
                        </m:r>
                      </m:e>
                      <m:sub>
                        <m:r>
                          <a:rPr lang="ar-AE" i="1">
                            <a:latin typeface="Cambria Math" panose="02040503050406030204" pitchFamily="18" charset="0"/>
                          </a:rPr>
                          <m:t>𝐴</m:t>
                        </m:r>
                      </m:sub>
                    </m:sSub>
                  </m:oMath>
                </a14:m>
                <a:endParaRPr lang="ar-AE" b="0" dirty="0"/>
              </a:p>
              <a:p>
                <a14:m>
                  <m:oMath xmlns:m="http://schemas.openxmlformats.org/officeDocument/2006/math">
                    <m:r>
                      <m:rPr>
                        <m:nor/>
                      </m:rPr>
                      <a:rPr lang="en-IN" b="0"/>
                      <m:t>Sentence</m:t>
                    </m:r>
                    <m:r>
                      <m:rPr>
                        <m:nor/>
                      </m:rPr>
                      <a:rPr lang="en-IN" b="0" i="1"/>
                      <m:t> </m:t>
                    </m:r>
                    <m:r>
                      <m:rPr>
                        <m:nor/>
                      </m:rPr>
                      <a:rPr lang="en-IN" b="0" i="1"/>
                      <m:t>B</m:t>
                    </m:r>
                    <m:r>
                      <a:rPr lang="en-IN">
                        <a:latin typeface="Cambria Math" panose="02040503050406030204" pitchFamily="18" charset="0"/>
                      </a:rPr>
                      <m:t>→</m:t>
                    </m:r>
                    <m:sSub>
                      <m:sSubPr>
                        <m:ctrlPr>
                          <a:rPr lang="ar-AE" i="1">
                            <a:latin typeface="Cambria Math" panose="02040503050406030204" pitchFamily="18" charset="0"/>
                          </a:rPr>
                        </m:ctrlPr>
                      </m:sSubPr>
                      <m:e>
                        <m:r>
                          <a:rPr lang="ar-AE" b="1">
                            <a:latin typeface="Cambria Math" panose="02040503050406030204" pitchFamily="18" charset="0"/>
                          </a:rPr>
                          <m:t>𝐞</m:t>
                        </m:r>
                      </m:e>
                      <m:sub>
                        <m:r>
                          <a:rPr lang="ar-AE" i="1">
                            <a:latin typeface="Cambria Math" panose="02040503050406030204" pitchFamily="18" charset="0"/>
                          </a:rPr>
                          <m:t>𝐵</m:t>
                        </m:r>
                      </m:sub>
                    </m:sSub>
                  </m:oMath>
                </a14:m>
                <a:endParaRPr lang="ar-AE" b="0" dirty="0"/>
              </a:p>
              <a:p>
                <a:r>
                  <a:rPr lang="en-IN" dirty="0"/>
                  <a:t>No interaction during encoding → </a:t>
                </a:r>
                <a:r>
                  <a:rPr lang="en-IN" b="1" dirty="0"/>
                  <a:t>fast retrieval</a:t>
                </a:r>
                <a:endParaRPr lang="en-IN" dirty="0"/>
              </a:p>
              <a:p>
                <a:endParaRPr lang="en-IN" dirty="0"/>
              </a:p>
            </p:txBody>
          </p:sp>
        </mc:Choice>
        <mc:Fallback xmlns="">
          <p:sp>
            <p:nvSpPr>
              <p:cNvPr id="3" name="Content Placeholder 2">
                <a:extLst>
                  <a:ext uri="{FF2B5EF4-FFF2-40B4-BE49-F238E27FC236}">
                    <a16:creationId xmlns:a16="http://schemas.microsoft.com/office/drawing/2014/main" id="{AAC792BE-E355-338D-34C9-71FEEA826F94}"/>
                  </a:ext>
                </a:extLst>
              </p:cNvPr>
              <p:cNvSpPr>
                <a:spLocks noGrp="1" noRot="1" noChangeAspect="1" noMove="1" noResize="1" noEditPoints="1" noAdjustHandles="1" noChangeArrowheads="1" noChangeShapeType="1" noTextEdit="1"/>
              </p:cNvSpPr>
              <p:nvPr>
                <p:ph idx="1"/>
              </p:nvPr>
            </p:nvSpPr>
            <p:spPr>
              <a:blipFill>
                <a:blip r:embed="rId2"/>
                <a:stretch>
                  <a:fillRect l="-121" t="-316"/>
                </a:stretch>
              </a:blipFill>
            </p:spPr>
            <p:txBody>
              <a:bodyPr/>
              <a:lstStyle/>
              <a:p>
                <a:r>
                  <a:rPr lang="en-IN">
                    <a:noFill/>
                  </a:rPr>
                  <a:t> </a:t>
                </a:r>
              </a:p>
            </p:txBody>
          </p:sp>
        </mc:Fallback>
      </mc:AlternateContent>
    </p:spTree>
    <p:extLst>
      <p:ext uri="{BB962C8B-B14F-4D97-AF65-F5344CB8AC3E}">
        <p14:creationId xmlns:p14="http://schemas.microsoft.com/office/powerpoint/2010/main" val="3174979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6C8F9-D28A-58A5-D7F1-09EA240F21F8}"/>
              </a:ext>
            </a:extLst>
          </p:cNvPr>
          <p:cNvSpPr>
            <a:spLocks noGrp="1"/>
          </p:cNvSpPr>
          <p:nvPr>
            <p:ph type="title"/>
          </p:nvPr>
        </p:nvSpPr>
        <p:spPr/>
        <p:txBody>
          <a:bodyPr/>
          <a:lstStyle/>
          <a:p>
            <a:r>
              <a:rPr lang="en-IN" dirty="0"/>
              <a:t>Transformer Model : </a:t>
            </a:r>
            <a:r>
              <a:rPr lang="en-IN" dirty="0" err="1"/>
              <a:t>MiniLM</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F294C4-B6A6-1ADA-7297-49D5B65FC778}"/>
                  </a:ext>
                </a:extLst>
              </p:cNvPr>
              <p:cNvSpPr>
                <a:spLocks noGrp="1"/>
              </p:cNvSpPr>
              <p:nvPr>
                <p:ph idx="1"/>
              </p:nvPr>
            </p:nvSpPr>
            <p:spPr/>
            <p:txBody>
              <a:bodyPr/>
              <a:lstStyle/>
              <a:p>
                <a:r>
                  <a:rPr lang="en-IN" b="1" dirty="0"/>
                  <a:t>5. Cosine Similarity (CORE MATCHING FUNCTION)</a:t>
                </a:r>
              </a:p>
              <a:p>
                <a14:m>
                  <m:oMath xmlns:m="http://schemas.openxmlformats.org/officeDocument/2006/math">
                    <m:r>
                      <m:rPr>
                        <m:nor/>
                      </m:rPr>
                      <a:rPr lang="en-IN" b="0"/>
                      <m:t>sim</m:t>
                    </m:r>
                    <m:d>
                      <m:dPr>
                        <m:sepChr m:val=","/>
                        <m:ctrlPr>
                          <a:rPr lang="ar-AE" i="1">
                            <a:latin typeface="Cambria Math" panose="02040503050406030204" pitchFamily="18" charset="0"/>
                          </a:rPr>
                        </m:ctrlPr>
                      </m:dPr>
                      <m:e>
                        <m:r>
                          <a:rPr lang="ar-AE" b="1">
                            <a:latin typeface="Cambria Math" panose="02040503050406030204" pitchFamily="18" charset="0"/>
                          </a:rPr>
                          <m:t>𝐮</m:t>
                        </m:r>
                      </m:e>
                      <m:e>
                        <m:r>
                          <a:rPr lang="ar-AE" b="1">
                            <a:latin typeface="Cambria Math" panose="02040503050406030204" pitchFamily="18" charset="0"/>
                          </a:rPr>
                          <m:t>𝐯</m:t>
                        </m:r>
                      </m:e>
                    </m:d>
                    <m:r>
                      <a:rPr lang="ar-AE">
                        <a:latin typeface="Cambria Math" panose="02040503050406030204" pitchFamily="18" charset="0"/>
                      </a:rPr>
                      <m:t>=</m:t>
                    </m:r>
                    <m:f>
                      <m:fPr>
                        <m:ctrlPr>
                          <a:rPr lang="ar-AE" i="1">
                            <a:latin typeface="Cambria Math" panose="02040503050406030204" pitchFamily="18" charset="0"/>
                          </a:rPr>
                        </m:ctrlPr>
                      </m:fPr>
                      <m:num>
                        <m:r>
                          <a:rPr lang="ar-AE" b="1">
                            <a:latin typeface="Cambria Math" panose="02040503050406030204" pitchFamily="18" charset="0"/>
                          </a:rPr>
                          <m:t>𝐮</m:t>
                        </m:r>
                        <m:r>
                          <a:rPr lang="ar-AE">
                            <a:latin typeface="Cambria Math" panose="02040503050406030204" pitchFamily="18" charset="0"/>
                          </a:rPr>
                          <m:t>⋅</m:t>
                        </m:r>
                        <m:r>
                          <a:rPr lang="ar-AE" b="1">
                            <a:latin typeface="Cambria Math" panose="02040503050406030204" pitchFamily="18" charset="0"/>
                          </a:rPr>
                          <m:t>𝐯</m:t>
                        </m:r>
                      </m:num>
                      <m:den>
                        <m:r>
                          <a:rPr lang="ar-AE">
                            <a:latin typeface="Cambria Math" panose="02040503050406030204" pitchFamily="18" charset="0"/>
                          </a:rPr>
                          <m:t>∥</m:t>
                        </m:r>
                        <m:r>
                          <a:rPr lang="ar-AE" b="1">
                            <a:latin typeface="Cambria Math" panose="02040503050406030204" pitchFamily="18" charset="0"/>
                          </a:rPr>
                          <m:t>𝐮</m:t>
                        </m:r>
                        <m:r>
                          <a:rPr lang="ar-AE">
                            <a:latin typeface="Cambria Math" panose="02040503050406030204" pitchFamily="18" charset="0"/>
                          </a:rPr>
                          <m:t>∥∥</m:t>
                        </m:r>
                        <m:r>
                          <a:rPr lang="ar-AE" b="1">
                            <a:latin typeface="Cambria Math" panose="02040503050406030204" pitchFamily="18" charset="0"/>
                          </a:rPr>
                          <m:t>𝐯</m:t>
                        </m:r>
                        <m:r>
                          <a:rPr lang="ar-AE">
                            <a:latin typeface="Cambria Math" panose="02040503050406030204" pitchFamily="18" charset="0"/>
                          </a:rPr>
                          <m:t>∥</m:t>
                        </m:r>
                      </m:den>
                    </m:f>
                  </m:oMath>
                </a14:m>
                <a:endParaRPr lang="ar-AE" dirty="0"/>
              </a:p>
              <a:p>
                <a:r>
                  <a:rPr lang="en-IN" dirty="0"/>
                  <a:t>Where:</a:t>
                </a:r>
              </a:p>
              <a:p>
                <a14:m>
                  <m:oMath xmlns:m="http://schemas.openxmlformats.org/officeDocument/2006/math">
                    <m:r>
                      <a:rPr lang="en-IN" b="1">
                        <a:latin typeface="Cambria Math" panose="02040503050406030204" pitchFamily="18" charset="0"/>
                      </a:rPr>
                      <m:t>𝐮</m:t>
                    </m:r>
                    <m:r>
                      <a:rPr lang="en-IN">
                        <a:latin typeface="Cambria Math" panose="02040503050406030204" pitchFamily="18" charset="0"/>
                      </a:rPr>
                      <m:t>,</m:t>
                    </m:r>
                    <m:r>
                      <a:rPr lang="en-IN" b="1">
                        <a:latin typeface="Cambria Math" panose="02040503050406030204" pitchFamily="18" charset="0"/>
                      </a:rPr>
                      <m:t>𝐯</m:t>
                    </m:r>
                  </m:oMath>
                </a14:m>
                <a:r>
                  <a:rPr lang="en-IN" dirty="0"/>
                  <a:t>= sentence embeddings </a:t>
                </a:r>
              </a:p>
              <a:p>
                <a:r>
                  <a:rPr lang="en-IN" dirty="0"/>
                  <a:t>Measures </a:t>
                </a:r>
                <a:r>
                  <a:rPr lang="en-IN" b="1" dirty="0"/>
                  <a:t>angle between vectors</a:t>
                </a:r>
                <a:r>
                  <a:rPr lang="en-IN" dirty="0"/>
                  <a:t>, not magnitude</a:t>
                </a:r>
              </a:p>
              <a:p>
                <a:r>
                  <a:rPr lang="en-US" b="1" dirty="0"/>
                  <a:t>6. Why Cosine (Not Euclidean)?</a:t>
                </a:r>
              </a:p>
              <a:p>
                <a:r>
                  <a:rPr lang="en-US" dirty="0"/>
                  <a:t>Scale doesn’t matter → meaning matters </a:t>
                </a:r>
              </a:p>
              <a:p>
                <a:r>
                  <a:rPr lang="en-US" dirty="0"/>
                  <a:t>Works well with normalized embeddings</a:t>
                </a:r>
              </a:p>
              <a:p>
                <a:endParaRPr lang="en-IN" dirty="0"/>
              </a:p>
              <a:p>
                <a:endParaRPr lang="en-IN" dirty="0"/>
              </a:p>
            </p:txBody>
          </p:sp>
        </mc:Choice>
        <mc:Fallback xmlns="">
          <p:sp>
            <p:nvSpPr>
              <p:cNvPr id="3" name="Content Placeholder 2">
                <a:extLst>
                  <a:ext uri="{FF2B5EF4-FFF2-40B4-BE49-F238E27FC236}">
                    <a16:creationId xmlns:a16="http://schemas.microsoft.com/office/drawing/2014/main" id="{15F294C4-B6A6-1ADA-7297-49D5B65FC778}"/>
                  </a:ext>
                </a:extLst>
              </p:cNvPr>
              <p:cNvSpPr>
                <a:spLocks noGrp="1" noRot="1" noChangeAspect="1" noMove="1" noResize="1" noEditPoints="1" noAdjustHandles="1" noChangeArrowheads="1" noChangeShapeType="1" noTextEdit="1"/>
              </p:cNvSpPr>
              <p:nvPr>
                <p:ph idx="1"/>
              </p:nvPr>
            </p:nvSpPr>
            <p:spPr>
              <a:blipFill>
                <a:blip r:embed="rId2"/>
                <a:stretch>
                  <a:fillRect l="-182"/>
                </a:stretch>
              </a:blipFill>
            </p:spPr>
            <p:txBody>
              <a:bodyPr/>
              <a:lstStyle/>
              <a:p>
                <a:r>
                  <a:rPr lang="en-IN">
                    <a:noFill/>
                  </a:rPr>
                  <a:t> </a:t>
                </a:r>
              </a:p>
            </p:txBody>
          </p:sp>
        </mc:Fallback>
      </mc:AlternateContent>
    </p:spTree>
    <p:extLst>
      <p:ext uri="{BB962C8B-B14F-4D97-AF65-F5344CB8AC3E}">
        <p14:creationId xmlns:p14="http://schemas.microsoft.com/office/powerpoint/2010/main" val="3169028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3E27A-6E0B-6189-7A51-FD944B119D36}"/>
              </a:ext>
            </a:extLst>
          </p:cNvPr>
          <p:cNvSpPr>
            <a:spLocks noGrp="1"/>
          </p:cNvSpPr>
          <p:nvPr>
            <p:ph type="title"/>
          </p:nvPr>
        </p:nvSpPr>
        <p:spPr/>
        <p:txBody>
          <a:bodyPr/>
          <a:lstStyle/>
          <a:p>
            <a:r>
              <a:rPr lang="en-IN" dirty="0"/>
              <a:t>Transformer Model : </a:t>
            </a:r>
            <a:r>
              <a:rPr lang="en-IN" dirty="0" err="1"/>
              <a:t>MiniLM</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0F2946-B7D3-4027-FDDA-76DF099C4974}"/>
                  </a:ext>
                </a:extLst>
              </p:cNvPr>
              <p:cNvSpPr>
                <a:spLocks noGrp="1"/>
              </p:cNvSpPr>
              <p:nvPr>
                <p:ph idx="1"/>
              </p:nvPr>
            </p:nvSpPr>
            <p:spPr/>
            <p:txBody>
              <a:bodyPr>
                <a:normAutofit fontScale="85000" lnSpcReduction="20000"/>
              </a:bodyPr>
              <a:lstStyle/>
              <a:p>
                <a:r>
                  <a:rPr lang="en-IN" b="1" dirty="0"/>
                  <a:t>7. </a:t>
                </a:r>
                <a:r>
                  <a:rPr lang="en-IN" b="1" dirty="0" err="1"/>
                  <a:t>MiniLM</a:t>
                </a:r>
                <a:r>
                  <a:rPr lang="en-IN" b="1" dirty="0"/>
                  <a:t> – Core Innovation</a:t>
                </a:r>
              </a:p>
              <a:p>
                <a:r>
                  <a:rPr lang="en-IN" dirty="0" err="1"/>
                  <a:t>MiniLM</a:t>
                </a:r>
                <a:r>
                  <a:rPr lang="en-IN" dirty="0"/>
                  <a:t> is a </a:t>
                </a:r>
                <a:r>
                  <a:rPr lang="en-IN" b="1" dirty="0"/>
                  <a:t>distilled transformer</a:t>
                </a:r>
                <a:r>
                  <a:rPr lang="en-IN" dirty="0"/>
                  <a:t>:</a:t>
                </a:r>
              </a:p>
              <a:p>
                <a:r>
                  <a:rPr lang="en-IN" dirty="0"/>
                  <a:t>Learns from a large model (like BERT) </a:t>
                </a:r>
              </a:p>
              <a:p>
                <a:r>
                  <a:rPr lang="en-IN" dirty="0"/>
                  <a:t>Uses </a:t>
                </a:r>
                <a:r>
                  <a:rPr lang="en-IN" b="1" dirty="0"/>
                  <a:t>self-attention distillation</a:t>
                </a:r>
                <a:r>
                  <a:rPr lang="en-IN" dirty="0"/>
                  <a:t> </a:t>
                </a:r>
              </a:p>
              <a:p>
                <a:r>
                  <a:rPr lang="en-IN" dirty="0"/>
                  <a:t>👉 Key idea:</a:t>
                </a:r>
              </a:p>
              <a:p>
                <a14:m>
                  <m:oMath xmlns:m="http://schemas.openxmlformats.org/officeDocument/2006/math">
                    <m:r>
                      <m:rPr>
                        <m:nor/>
                      </m:rPr>
                      <a:rPr lang="en-US"/>
                      <m:t>Student</m:t>
                    </m:r>
                    <m:r>
                      <m:rPr>
                        <m:nor/>
                      </m:rPr>
                      <a:rPr lang="en-US"/>
                      <m:t> </m:t>
                    </m:r>
                    <m:r>
                      <m:rPr>
                        <m:nor/>
                      </m:rPr>
                      <a:rPr lang="en-US"/>
                      <m:t>model</m:t>
                    </m:r>
                    <m:r>
                      <m:rPr>
                        <m:nor/>
                      </m:rPr>
                      <a:rPr lang="en-US"/>
                      <m:t> </m:t>
                    </m:r>
                    <m:r>
                      <m:rPr>
                        <m:nor/>
                      </m:rPr>
                      <a:rPr lang="en-US"/>
                      <m:t>mimics</m:t>
                    </m:r>
                    <m:r>
                      <m:rPr>
                        <m:nor/>
                      </m:rPr>
                      <a:rPr lang="en-US"/>
                      <m:t> </m:t>
                    </m:r>
                    <m:r>
                      <m:rPr>
                        <m:nor/>
                      </m:rPr>
                      <a:rPr lang="en-US"/>
                      <m:t>attention</m:t>
                    </m:r>
                    <m:r>
                      <m:rPr>
                        <m:nor/>
                      </m:rPr>
                      <a:rPr lang="en-US"/>
                      <m:t> </m:t>
                    </m:r>
                    <m:r>
                      <m:rPr>
                        <m:nor/>
                      </m:rPr>
                      <a:rPr lang="en-US"/>
                      <m:t>patterns</m:t>
                    </m:r>
                    <m:r>
                      <m:rPr>
                        <m:nor/>
                      </m:rPr>
                      <a:rPr lang="en-US"/>
                      <m:t> </m:t>
                    </m:r>
                    <m:r>
                      <m:rPr>
                        <m:nor/>
                      </m:rPr>
                      <a:rPr lang="en-US"/>
                      <m:t>of</m:t>
                    </m:r>
                    <m:r>
                      <m:rPr>
                        <m:nor/>
                      </m:rPr>
                      <a:rPr lang="en-US"/>
                      <m:t> </m:t>
                    </m:r>
                    <m:r>
                      <m:rPr>
                        <m:nor/>
                      </m:rPr>
                      <a:rPr lang="en-US"/>
                      <m:t>teacher</m:t>
                    </m:r>
                  </m:oMath>
                </a14:m>
                <a:endParaRPr lang="en-IN" dirty="0"/>
              </a:p>
              <a:p>
                <a:r>
                  <a:rPr lang="en-IN" dirty="0"/>
                  <a:t>Compresses model while keeping performance</a:t>
                </a:r>
              </a:p>
              <a:p>
                <a:r>
                  <a:rPr lang="en-IN" b="1" dirty="0"/>
                  <a:t>8. Self-Attention (Important Equation)</a:t>
                </a:r>
              </a:p>
              <a:p>
                <a:r>
                  <a:rPr lang="en-IN" dirty="0"/>
                  <a:t>Inside transformer:</a:t>
                </a:r>
              </a:p>
              <a:p>
                <a14:m>
                  <m:oMath xmlns:m="http://schemas.openxmlformats.org/officeDocument/2006/math">
                    <m:r>
                      <m:rPr>
                        <m:nor/>
                      </m:rPr>
                      <a:rPr lang="en-IN" b="0"/>
                      <m:t>Attention</m:t>
                    </m:r>
                    <m:d>
                      <m:dPr>
                        <m:sepChr m:val=","/>
                        <m:ctrlPr>
                          <a:rPr lang="ar-AE" i="1">
                            <a:latin typeface="Cambria Math" panose="02040503050406030204" pitchFamily="18" charset="0"/>
                          </a:rPr>
                        </m:ctrlPr>
                      </m:dPr>
                      <m:e>
                        <m:r>
                          <a:rPr lang="ar-AE" b="0" i="1">
                            <a:latin typeface="Cambria Math" panose="02040503050406030204" pitchFamily="18" charset="0"/>
                          </a:rPr>
                          <m:t>𝑄</m:t>
                        </m:r>
                      </m:e>
                      <m:e>
                        <m:r>
                          <a:rPr lang="ar-AE" b="0" i="1">
                            <a:latin typeface="Cambria Math" panose="02040503050406030204" pitchFamily="18" charset="0"/>
                          </a:rPr>
                          <m:t>𝐾</m:t>
                        </m:r>
                      </m:e>
                      <m:e>
                        <m:r>
                          <a:rPr lang="ar-AE" b="0" i="1">
                            <a:latin typeface="Cambria Math" panose="02040503050406030204" pitchFamily="18" charset="0"/>
                          </a:rPr>
                          <m:t>𝑉</m:t>
                        </m:r>
                      </m:e>
                    </m:d>
                    <m:r>
                      <a:rPr lang="ar-AE">
                        <a:latin typeface="Cambria Math" panose="02040503050406030204" pitchFamily="18" charset="0"/>
                      </a:rPr>
                      <m:t>=</m:t>
                    </m:r>
                    <m:r>
                      <m:rPr>
                        <m:nor/>
                      </m:rPr>
                      <a:rPr lang="en-IN" i="1"/>
                      <m:t>softmax</m:t>
                    </m:r>
                    <m:d>
                      <m:dPr>
                        <m:ctrlPr>
                          <a:rPr lang="ar-AE" i="1">
                            <a:latin typeface="Cambria Math" panose="02040503050406030204" pitchFamily="18" charset="0"/>
                          </a:rPr>
                        </m:ctrlPr>
                      </m:dPr>
                      <m:e>
                        <m:f>
                          <m:fPr>
                            <m:ctrlPr>
                              <a:rPr lang="ar-AE" i="1">
                                <a:latin typeface="Cambria Math" panose="02040503050406030204" pitchFamily="18" charset="0"/>
                              </a:rPr>
                            </m:ctrlPr>
                          </m:fPr>
                          <m:num>
                            <m:r>
                              <a:rPr lang="ar-AE" i="1">
                                <a:latin typeface="Cambria Math" panose="02040503050406030204" pitchFamily="18" charset="0"/>
                              </a:rPr>
                              <m:t>𝑄</m:t>
                            </m:r>
                            <m:sSup>
                              <m:sSupPr>
                                <m:ctrlPr>
                                  <a:rPr lang="ar-AE" i="1">
                                    <a:latin typeface="Cambria Math" panose="02040503050406030204" pitchFamily="18" charset="0"/>
                                  </a:rPr>
                                </m:ctrlPr>
                              </m:sSupPr>
                              <m:e>
                                <m:r>
                                  <a:rPr lang="ar-AE" i="1">
                                    <a:latin typeface="Cambria Math" panose="02040503050406030204" pitchFamily="18" charset="0"/>
                                  </a:rPr>
                                  <m:t>𝐾</m:t>
                                </m:r>
                              </m:e>
                              <m:sup>
                                <m:r>
                                  <a:rPr lang="ar-AE" i="1">
                                    <a:latin typeface="Cambria Math" panose="02040503050406030204" pitchFamily="18" charset="0"/>
                                  </a:rPr>
                                  <m:t>𝑇</m:t>
                                </m:r>
                              </m:sup>
                            </m:sSup>
                          </m:num>
                          <m:den>
                            <m:rad>
                              <m:radPr>
                                <m:degHide m:val="on"/>
                                <m:ctrlPr>
                                  <a:rPr lang="ar-AE" i="1">
                                    <a:latin typeface="Cambria Math" panose="02040503050406030204" pitchFamily="18" charset="0"/>
                                  </a:rPr>
                                </m:ctrlPr>
                              </m:radPr>
                              <m:deg/>
                              <m:e>
                                <m:sSub>
                                  <m:sSubPr>
                                    <m:ctrlPr>
                                      <a:rPr lang="ar-AE" i="1">
                                        <a:latin typeface="Cambria Math" panose="02040503050406030204" pitchFamily="18" charset="0"/>
                                      </a:rPr>
                                    </m:ctrlPr>
                                  </m:sSubPr>
                                  <m:e>
                                    <m:r>
                                      <a:rPr lang="ar-AE" i="1">
                                        <a:latin typeface="Cambria Math" panose="02040503050406030204" pitchFamily="18" charset="0"/>
                                      </a:rPr>
                                      <m:t>𝑑</m:t>
                                    </m:r>
                                  </m:e>
                                  <m:sub>
                                    <m:r>
                                      <a:rPr lang="ar-AE" i="1">
                                        <a:latin typeface="Cambria Math" panose="02040503050406030204" pitchFamily="18" charset="0"/>
                                      </a:rPr>
                                      <m:t>𝑘</m:t>
                                    </m:r>
                                  </m:sub>
                                </m:sSub>
                              </m:e>
                            </m:rad>
                          </m:den>
                        </m:f>
                      </m:e>
                    </m:d>
                    <m:r>
                      <a:rPr lang="ar-AE" i="1">
                        <a:latin typeface="Cambria Math" panose="02040503050406030204" pitchFamily="18" charset="0"/>
                      </a:rPr>
                      <m:t>𝑉</m:t>
                    </m:r>
                  </m:oMath>
                </a14:m>
                <a:endParaRPr lang="ar-AE" b="0" dirty="0"/>
              </a:p>
              <a:p>
                <a:r>
                  <a:rPr lang="en-IN" dirty="0"/>
                  <a:t>Captures relationships between all words </a:t>
                </a:r>
              </a:p>
              <a:p>
                <a:r>
                  <a:rPr lang="en-IN" dirty="0"/>
                  <a:t>Enables contextual understanding</a:t>
                </a:r>
              </a:p>
              <a:p>
                <a:endParaRPr lang="en-IN" dirty="0"/>
              </a:p>
              <a:p>
                <a:endParaRPr lang="en-IN" dirty="0"/>
              </a:p>
            </p:txBody>
          </p:sp>
        </mc:Choice>
        <mc:Fallback xmlns="">
          <p:sp>
            <p:nvSpPr>
              <p:cNvPr id="3" name="Content Placeholder 2">
                <a:extLst>
                  <a:ext uri="{FF2B5EF4-FFF2-40B4-BE49-F238E27FC236}">
                    <a16:creationId xmlns:a16="http://schemas.microsoft.com/office/drawing/2014/main" id="{110F2946-B7D3-4027-FDDA-76DF099C4974}"/>
                  </a:ext>
                </a:extLst>
              </p:cNvPr>
              <p:cNvSpPr>
                <a:spLocks noGrp="1" noRot="1" noChangeAspect="1" noMove="1" noResize="1" noEditPoints="1" noAdjustHandles="1" noChangeArrowheads="1" noChangeShapeType="1" noTextEdit="1"/>
              </p:cNvSpPr>
              <p:nvPr>
                <p:ph idx="1"/>
              </p:nvPr>
            </p:nvSpPr>
            <p:spPr>
              <a:blipFill>
                <a:blip r:embed="rId2"/>
                <a:stretch>
                  <a:fillRect t="-633"/>
                </a:stretch>
              </a:blipFill>
            </p:spPr>
            <p:txBody>
              <a:bodyPr/>
              <a:lstStyle/>
              <a:p>
                <a:r>
                  <a:rPr lang="en-IN">
                    <a:noFill/>
                  </a:rPr>
                  <a:t> </a:t>
                </a:r>
              </a:p>
            </p:txBody>
          </p:sp>
        </mc:Fallback>
      </mc:AlternateContent>
    </p:spTree>
    <p:extLst>
      <p:ext uri="{BB962C8B-B14F-4D97-AF65-F5344CB8AC3E}">
        <p14:creationId xmlns:p14="http://schemas.microsoft.com/office/powerpoint/2010/main" val="555956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D9395-7F08-9544-E78A-C074C7DAC5A6}"/>
              </a:ext>
            </a:extLst>
          </p:cNvPr>
          <p:cNvSpPr>
            <a:spLocks noGrp="1"/>
          </p:cNvSpPr>
          <p:nvPr>
            <p:ph type="title"/>
          </p:nvPr>
        </p:nvSpPr>
        <p:spPr/>
        <p:txBody>
          <a:bodyPr/>
          <a:lstStyle/>
          <a:p>
            <a:r>
              <a:rPr lang="en-IN" dirty="0"/>
              <a:t>Transformer Model : </a:t>
            </a:r>
            <a:r>
              <a:rPr lang="en-IN" dirty="0" err="1"/>
              <a:t>MiniLM</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223F48-D7F9-39B4-04E1-E9AA559A79DD}"/>
                  </a:ext>
                </a:extLst>
              </p:cNvPr>
              <p:cNvSpPr>
                <a:spLocks noGrp="1"/>
              </p:cNvSpPr>
              <p:nvPr>
                <p:ph idx="1"/>
              </p:nvPr>
            </p:nvSpPr>
            <p:spPr/>
            <p:txBody>
              <a:bodyPr>
                <a:normAutofit fontScale="85000" lnSpcReduction="20000"/>
              </a:bodyPr>
              <a:lstStyle/>
              <a:p>
                <a:r>
                  <a:rPr lang="en-US" b="1" dirty="0"/>
                  <a:t>9. Embedding Space Intuition</a:t>
                </a:r>
              </a:p>
              <a:p>
                <a:r>
                  <a:rPr lang="en-US" dirty="0"/>
                  <a:t>Each sentence → point in high-dimensional space </a:t>
                </a:r>
              </a:p>
              <a:p>
                <a:r>
                  <a:rPr lang="en-US" dirty="0"/>
                  <a:t>Similar sentences → </a:t>
                </a:r>
                <a:r>
                  <a:rPr lang="en-US" b="1" dirty="0"/>
                  <a:t>cluster together</a:t>
                </a:r>
                <a:r>
                  <a:rPr lang="en-US" dirty="0"/>
                  <a:t> </a:t>
                </a:r>
              </a:p>
              <a:p>
                <a:r>
                  <a:rPr lang="en-US" dirty="0"/>
                  <a:t>Example:</a:t>
                </a:r>
              </a:p>
              <a:p>
                <a:r>
                  <a:rPr lang="en-US" dirty="0"/>
                  <a:t>“Track my order” </a:t>
                </a:r>
              </a:p>
              <a:p>
                <a:r>
                  <a:rPr lang="en-US" dirty="0"/>
                  <a:t>“Where is my package” </a:t>
                </a:r>
              </a:p>
              <a:p>
                <a:r>
                  <a:rPr lang="en-US" dirty="0"/>
                  <a:t>→ very close vectors</a:t>
                </a:r>
              </a:p>
              <a:p>
                <a:r>
                  <a:rPr lang="en-IN" b="1" dirty="0"/>
                  <a:t>10. Training Objective (Fine-Tuning Insight)</a:t>
                </a:r>
              </a:p>
              <a:p>
                <a:r>
                  <a:rPr lang="en-IN" dirty="0"/>
                  <a:t>Model learns:</a:t>
                </a:r>
              </a:p>
              <a:p>
                <a14:m>
                  <m:oMath xmlns:m="http://schemas.openxmlformats.org/officeDocument/2006/math">
                    <m:r>
                      <m:rPr>
                        <m:nor/>
                      </m:rPr>
                      <a:rPr lang="en-IN" b="0"/>
                      <m:t>maximize</m:t>
                    </m:r>
                    <m:r>
                      <m:rPr>
                        <m:nor/>
                      </m:rPr>
                      <a:rPr lang="en-IN" b="0" i="1"/>
                      <m:t> </m:t>
                    </m:r>
                    <m:r>
                      <m:rPr>
                        <m:sty m:val="p"/>
                      </m:rPr>
                      <a:rPr lang="en-IN">
                        <a:latin typeface="Cambria Math" panose="02040503050406030204" pitchFamily="18" charset="0"/>
                      </a:rPr>
                      <m:t>cos</m:t>
                    </m:r>
                    <m:r>
                      <a:rPr lang="en-IN">
                        <a:latin typeface="Cambria Math" panose="02040503050406030204" pitchFamily="18" charset="0"/>
                      </a:rPr>
                      <m:t>⁡</m:t>
                    </m:r>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b="1">
                                <a:latin typeface="Cambria Math" panose="02040503050406030204" pitchFamily="18" charset="0"/>
                              </a:rPr>
                              <m:t>𝐞</m:t>
                            </m:r>
                          </m:e>
                          <m:sub>
                            <m:r>
                              <m:rPr>
                                <m:nor/>
                              </m:rPr>
                              <a:rPr lang="en-IN" i="1"/>
                              <m:t>query</m:t>
                            </m:r>
                          </m:sub>
                        </m:sSub>
                      </m:e>
                      <m:e>
                        <m:sSub>
                          <m:sSubPr>
                            <m:ctrlPr>
                              <a:rPr lang="ar-AE" i="1">
                                <a:latin typeface="Cambria Math" panose="02040503050406030204" pitchFamily="18" charset="0"/>
                              </a:rPr>
                            </m:ctrlPr>
                          </m:sSubPr>
                          <m:e>
                            <m:r>
                              <a:rPr lang="ar-AE" b="1">
                                <a:latin typeface="Cambria Math" panose="02040503050406030204" pitchFamily="18" charset="0"/>
                              </a:rPr>
                              <m:t>𝐞</m:t>
                            </m:r>
                          </m:e>
                          <m:sub>
                            <m:r>
                              <m:rPr>
                                <m:nor/>
                              </m:rPr>
                              <a:rPr lang="en-IN" i="1"/>
                              <m:t>positive</m:t>
                            </m:r>
                          </m:sub>
                        </m:sSub>
                      </m:e>
                    </m:d>
                  </m:oMath>
                </a14:m>
                <a:endParaRPr lang="ar-AE" b="0" dirty="0"/>
              </a:p>
              <a:p>
                <a14:m>
                  <m:oMath xmlns:m="http://schemas.openxmlformats.org/officeDocument/2006/math">
                    <m:r>
                      <m:rPr>
                        <m:nor/>
                      </m:rPr>
                      <a:rPr lang="en-IN" b="0"/>
                      <m:t>minimize</m:t>
                    </m:r>
                    <m:r>
                      <m:rPr>
                        <m:nor/>
                      </m:rPr>
                      <a:rPr lang="en-IN" b="0" i="1"/>
                      <m:t> </m:t>
                    </m:r>
                    <m:r>
                      <m:rPr>
                        <m:sty m:val="p"/>
                      </m:rPr>
                      <a:rPr lang="en-IN">
                        <a:latin typeface="Cambria Math" panose="02040503050406030204" pitchFamily="18" charset="0"/>
                      </a:rPr>
                      <m:t>cos</m:t>
                    </m:r>
                    <m:r>
                      <a:rPr lang="en-IN">
                        <a:latin typeface="Cambria Math" panose="02040503050406030204" pitchFamily="18" charset="0"/>
                      </a:rPr>
                      <m:t>⁡</m:t>
                    </m:r>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b="1">
                                <a:latin typeface="Cambria Math" panose="02040503050406030204" pitchFamily="18" charset="0"/>
                              </a:rPr>
                              <m:t>𝐞</m:t>
                            </m:r>
                          </m:e>
                          <m:sub>
                            <m:r>
                              <m:rPr>
                                <m:nor/>
                              </m:rPr>
                              <a:rPr lang="en-IN" i="1"/>
                              <m:t>query</m:t>
                            </m:r>
                          </m:sub>
                        </m:sSub>
                      </m:e>
                      <m:e>
                        <m:sSub>
                          <m:sSubPr>
                            <m:ctrlPr>
                              <a:rPr lang="ar-AE" i="1">
                                <a:latin typeface="Cambria Math" panose="02040503050406030204" pitchFamily="18" charset="0"/>
                              </a:rPr>
                            </m:ctrlPr>
                          </m:sSubPr>
                          <m:e>
                            <m:r>
                              <a:rPr lang="ar-AE" b="1">
                                <a:latin typeface="Cambria Math" panose="02040503050406030204" pitchFamily="18" charset="0"/>
                              </a:rPr>
                              <m:t>𝐞</m:t>
                            </m:r>
                          </m:e>
                          <m:sub>
                            <m:r>
                              <m:rPr>
                                <m:nor/>
                              </m:rPr>
                              <a:rPr lang="en-IN" i="1"/>
                              <m:t>negative</m:t>
                            </m:r>
                          </m:sub>
                        </m:sSub>
                      </m:e>
                    </m:d>
                  </m:oMath>
                </a14:m>
                <a:endParaRPr lang="ar-AE" b="0" dirty="0"/>
              </a:p>
              <a:p>
                <a:r>
                  <a:rPr lang="en-IN" dirty="0"/>
                  <a:t>👉 Brings similar sentences closer</a:t>
                </a:r>
              </a:p>
              <a:p>
                <a:endParaRPr lang="en-IN" dirty="0"/>
              </a:p>
            </p:txBody>
          </p:sp>
        </mc:Choice>
        <mc:Fallback xmlns="">
          <p:sp>
            <p:nvSpPr>
              <p:cNvPr id="3" name="Content Placeholder 2">
                <a:extLst>
                  <a:ext uri="{FF2B5EF4-FFF2-40B4-BE49-F238E27FC236}">
                    <a16:creationId xmlns:a16="http://schemas.microsoft.com/office/drawing/2014/main" id="{3D223F48-D7F9-39B4-04E1-E9AA559A79DD}"/>
                  </a:ext>
                </a:extLst>
              </p:cNvPr>
              <p:cNvSpPr>
                <a:spLocks noGrp="1" noRot="1" noChangeAspect="1" noMove="1" noResize="1" noEditPoints="1" noAdjustHandles="1" noChangeArrowheads="1" noChangeShapeType="1" noTextEdit="1"/>
              </p:cNvSpPr>
              <p:nvPr>
                <p:ph idx="1"/>
              </p:nvPr>
            </p:nvSpPr>
            <p:spPr>
              <a:blipFill>
                <a:blip r:embed="rId2"/>
                <a:stretch>
                  <a:fillRect t="-633"/>
                </a:stretch>
              </a:blipFill>
            </p:spPr>
            <p:txBody>
              <a:bodyPr/>
              <a:lstStyle/>
              <a:p>
                <a:r>
                  <a:rPr lang="en-IN">
                    <a:noFill/>
                  </a:rPr>
                  <a:t> </a:t>
                </a:r>
              </a:p>
            </p:txBody>
          </p:sp>
        </mc:Fallback>
      </mc:AlternateContent>
    </p:spTree>
    <p:extLst>
      <p:ext uri="{BB962C8B-B14F-4D97-AF65-F5344CB8AC3E}">
        <p14:creationId xmlns:p14="http://schemas.microsoft.com/office/powerpoint/2010/main" val="2685350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EECF5-780F-5A47-FEE1-E7BC85927554}"/>
              </a:ext>
            </a:extLst>
          </p:cNvPr>
          <p:cNvSpPr>
            <a:spLocks noGrp="1"/>
          </p:cNvSpPr>
          <p:nvPr>
            <p:ph type="title"/>
          </p:nvPr>
        </p:nvSpPr>
        <p:spPr/>
        <p:txBody>
          <a:bodyPr/>
          <a:lstStyle/>
          <a:p>
            <a:r>
              <a:rPr lang="en-IN" dirty="0"/>
              <a:t>Transformer Model : </a:t>
            </a:r>
            <a:r>
              <a:rPr lang="en-IN" dirty="0" err="1"/>
              <a:t>MiniLM</a:t>
            </a:r>
            <a:endParaRPr lang="en-IN" dirty="0"/>
          </a:p>
        </p:txBody>
      </p:sp>
      <p:sp>
        <p:nvSpPr>
          <p:cNvPr id="3" name="Content Placeholder 2">
            <a:extLst>
              <a:ext uri="{FF2B5EF4-FFF2-40B4-BE49-F238E27FC236}">
                <a16:creationId xmlns:a16="http://schemas.microsoft.com/office/drawing/2014/main" id="{6D3FBB0F-7C19-66C1-845A-823581AA9F68}"/>
              </a:ext>
            </a:extLst>
          </p:cNvPr>
          <p:cNvSpPr>
            <a:spLocks noGrp="1"/>
          </p:cNvSpPr>
          <p:nvPr>
            <p:ph idx="1"/>
          </p:nvPr>
        </p:nvSpPr>
        <p:spPr/>
        <p:txBody>
          <a:bodyPr/>
          <a:lstStyle/>
          <a:p>
            <a:r>
              <a:rPr lang="en-US" b="1" dirty="0"/>
              <a:t>11. Why </a:t>
            </a:r>
            <a:r>
              <a:rPr lang="en-US" b="1" dirty="0" err="1"/>
              <a:t>MiniLM</a:t>
            </a:r>
            <a:r>
              <a:rPr lang="en-US" b="1" dirty="0"/>
              <a:t> Works So Well</a:t>
            </a:r>
          </a:p>
          <a:p>
            <a:r>
              <a:rPr lang="en-US" dirty="0"/>
              <a:t>6 layers → faster </a:t>
            </a:r>
          </a:p>
          <a:p>
            <a:r>
              <a:rPr lang="en-US" dirty="0"/>
              <a:t>384-dim embeddings → compact </a:t>
            </a:r>
          </a:p>
          <a:p>
            <a:r>
              <a:rPr lang="en-US" dirty="0"/>
              <a:t>Trained on </a:t>
            </a:r>
            <a:r>
              <a:rPr lang="en-US" b="1" dirty="0"/>
              <a:t>billions of sentence pairs</a:t>
            </a:r>
            <a:r>
              <a:rPr lang="en-US" dirty="0"/>
              <a:t> </a:t>
            </a:r>
          </a:p>
          <a:p>
            <a:endParaRPr lang="en-IN" dirty="0"/>
          </a:p>
        </p:txBody>
      </p:sp>
    </p:spTree>
    <p:extLst>
      <p:ext uri="{BB962C8B-B14F-4D97-AF65-F5344CB8AC3E}">
        <p14:creationId xmlns:p14="http://schemas.microsoft.com/office/powerpoint/2010/main" val="3792049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CA9FC-7D2E-EBD5-E59B-8D3969A91DDC}"/>
              </a:ext>
            </a:extLst>
          </p:cNvPr>
          <p:cNvSpPr>
            <a:spLocks noGrp="1"/>
          </p:cNvSpPr>
          <p:nvPr>
            <p:ph type="title"/>
          </p:nvPr>
        </p:nvSpPr>
        <p:spPr/>
        <p:txBody>
          <a:bodyPr/>
          <a:lstStyle/>
          <a:p>
            <a:r>
              <a:rPr lang="en-IN" dirty="0"/>
              <a:t>Deployment </a:t>
            </a:r>
          </a:p>
        </p:txBody>
      </p:sp>
      <p:sp>
        <p:nvSpPr>
          <p:cNvPr id="3" name="Content Placeholder 2">
            <a:extLst>
              <a:ext uri="{FF2B5EF4-FFF2-40B4-BE49-F238E27FC236}">
                <a16:creationId xmlns:a16="http://schemas.microsoft.com/office/drawing/2014/main" id="{B3089856-1F9D-DA4B-8A3A-A232257CB499}"/>
              </a:ext>
            </a:extLst>
          </p:cNvPr>
          <p:cNvSpPr>
            <a:spLocks noGrp="1"/>
          </p:cNvSpPr>
          <p:nvPr>
            <p:ph idx="1"/>
          </p:nvPr>
        </p:nvSpPr>
        <p:spPr/>
        <p:txBody>
          <a:bodyPr/>
          <a:lstStyle/>
          <a:p>
            <a:r>
              <a:rPr lang="en-IN" dirty="0"/>
              <a:t>We deploy the model using </a:t>
            </a:r>
            <a:r>
              <a:rPr lang="en-IN" dirty="0" err="1"/>
              <a:t>Gradio</a:t>
            </a:r>
            <a:r>
              <a:rPr lang="en-IN" dirty="0"/>
              <a:t> interface for chatbot deployment on Google </a:t>
            </a:r>
            <a:r>
              <a:rPr lang="en-IN" dirty="0" err="1"/>
              <a:t>Colab</a:t>
            </a:r>
            <a:r>
              <a:rPr lang="en-IN" dirty="0"/>
              <a:t>.</a:t>
            </a:r>
          </a:p>
        </p:txBody>
      </p:sp>
    </p:spTree>
    <p:extLst>
      <p:ext uri="{BB962C8B-B14F-4D97-AF65-F5344CB8AC3E}">
        <p14:creationId xmlns:p14="http://schemas.microsoft.com/office/powerpoint/2010/main" val="2886744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1DFA9-6375-78A8-AE80-97000F3E5C8F}"/>
              </a:ext>
            </a:extLst>
          </p:cNvPr>
          <p:cNvSpPr>
            <a:spLocks noGrp="1"/>
          </p:cNvSpPr>
          <p:nvPr>
            <p:ph type="title"/>
          </p:nvPr>
        </p:nvSpPr>
        <p:spPr/>
        <p:txBody>
          <a:bodyPr/>
          <a:lstStyle/>
          <a:p>
            <a:r>
              <a:rPr lang="en-IN" dirty="0"/>
              <a:t>Results</a:t>
            </a:r>
          </a:p>
        </p:txBody>
      </p:sp>
      <p:pic>
        <p:nvPicPr>
          <p:cNvPr id="5" name="Content Placeholder 4">
            <a:extLst>
              <a:ext uri="{FF2B5EF4-FFF2-40B4-BE49-F238E27FC236}">
                <a16:creationId xmlns:a16="http://schemas.microsoft.com/office/drawing/2014/main" id="{3FA9DDD4-7796-349E-8D6A-1CF694DFEBD4}"/>
              </a:ext>
            </a:extLst>
          </p:cNvPr>
          <p:cNvPicPr>
            <a:picLocks noGrp="1" noChangeAspect="1"/>
          </p:cNvPicPr>
          <p:nvPr>
            <p:ph idx="1"/>
          </p:nvPr>
        </p:nvPicPr>
        <p:blipFill>
          <a:blip r:embed="rId2"/>
          <a:stretch>
            <a:fillRect/>
          </a:stretch>
        </p:blipFill>
        <p:spPr>
          <a:xfrm>
            <a:off x="1066800" y="2412133"/>
            <a:ext cx="10058400" cy="3232297"/>
          </a:xfrm>
          <a:prstGeom prst="rect">
            <a:avLst/>
          </a:prstGeom>
        </p:spPr>
      </p:pic>
    </p:spTree>
    <p:extLst>
      <p:ext uri="{BB962C8B-B14F-4D97-AF65-F5344CB8AC3E}">
        <p14:creationId xmlns:p14="http://schemas.microsoft.com/office/powerpoint/2010/main" val="1746648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A8207-6D7D-45F4-10AA-DAE186DD2504}"/>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E48B4A04-C1BD-EB1A-D3E2-7EA2947AA199}"/>
              </a:ext>
            </a:extLst>
          </p:cNvPr>
          <p:cNvSpPr>
            <a:spLocks noGrp="1"/>
          </p:cNvSpPr>
          <p:nvPr>
            <p:ph idx="1"/>
          </p:nvPr>
        </p:nvSpPr>
        <p:spPr/>
        <p:txBody>
          <a:bodyPr/>
          <a:lstStyle/>
          <a:p>
            <a:r>
              <a:rPr lang="en-US" dirty="0"/>
              <a:t>The </a:t>
            </a:r>
            <a:r>
              <a:rPr lang="en-US" b="1" dirty="0"/>
              <a:t>Shipping FAQ Assistant</a:t>
            </a:r>
            <a:r>
              <a:rPr lang="en-US" dirty="0"/>
              <a:t> successfully demonstrates how modern transformer‑based sentence embeddings can be applied to create a high‑accuracy, domain‑specific question‑answering system. By leveraging the lightweight yet powerful all-MiniLM-L6-v2 model and fine‑tuning it on a curated set of shipping‑related paraphrases, the system achieves </a:t>
            </a:r>
            <a:r>
              <a:rPr lang="en-US" b="1" dirty="0"/>
              <a:t>95% accuracy</a:t>
            </a:r>
            <a:r>
              <a:rPr lang="en-US" dirty="0"/>
              <a:t> in matching user queries to the correct FAQ. The entire pipeline—from encoding FAQs and user questions to computing cosine similarity—is optimized for </a:t>
            </a:r>
            <a:r>
              <a:rPr lang="en-US" b="1" dirty="0"/>
              <a:t>real‑time inference</a:t>
            </a:r>
            <a:r>
              <a:rPr lang="en-US" dirty="0"/>
              <a:t> (&lt;20 </a:t>
            </a:r>
            <a:r>
              <a:rPr lang="en-US" dirty="0" err="1"/>
              <a:t>ms</a:t>
            </a:r>
            <a:r>
              <a:rPr lang="en-US" dirty="0"/>
              <a:t> per query) and can be deployed instantly as an interactive web application using </a:t>
            </a:r>
            <a:r>
              <a:rPr lang="en-US" b="1" dirty="0" err="1"/>
              <a:t>Gradio</a:t>
            </a:r>
            <a:r>
              <a:rPr lang="en-US" dirty="0"/>
              <a:t> within Google </a:t>
            </a:r>
            <a:r>
              <a:rPr lang="en-US" dirty="0" err="1"/>
              <a:t>Colab</a:t>
            </a:r>
            <a:r>
              <a:rPr lang="en-US" dirty="0"/>
              <a:t>. This project highlights the accessibility and effectiveness of transformer models for building intelligent customer support tools, offering a scalable, cost‑efficient solution for shipping businesses to automate repetitive inquiries and enhance user experience. Future enhancements could include multilingual support, integration with live chat APIs, and continuous learning from user interactions.</a:t>
            </a:r>
            <a:endParaRPr lang="en-IN" dirty="0"/>
          </a:p>
        </p:txBody>
      </p:sp>
    </p:spTree>
    <p:extLst>
      <p:ext uri="{BB962C8B-B14F-4D97-AF65-F5344CB8AC3E}">
        <p14:creationId xmlns:p14="http://schemas.microsoft.com/office/powerpoint/2010/main" val="10262492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Override1.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94F055B-D391-44D3-A87A-BCD07BD5A31C}">
  <ds:schemaRefs>
    <ds:schemaRef ds:uri="http://schemas.microsoft.com/sharepoint/v3/contenttype/forms"/>
  </ds:schemaRefs>
</ds:datastoreItem>
</file>

<file path=customXml/itemProps2.xml><?xml version="1.0" encoding="utf-8"?>
<ds:datastoreItem xmlns:ds="http://schemas.openxmlformats.org/officeDocument/2006/customXml" ds:itemID="{B975FBC4-9D33-46BE-911D-419763BA9AF9}">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26DBD101-FC0A-4B21-82B0-57CAA7AEEC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{474AE494-E7E2-4E96-BCCF-1CC6AB688564}TF993b3720-55e5-4d3e-ae7c-1ec77a73f5a45edb12b8_win32-bce7b620edb8</Template>
  <TotalTime>366</TotalTime>
  <Words>674</Words>
  <Application>Microsoft Office PowerPoint</Application>
  <PresentationFormat>Widescreen</PresentationFormat>
  <Paragraphs>86</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Avenir Next LT Pro</vt:lpstr>
      <vt:lpstr>Avenir Next LT Pro Light</vt:lpstr>
      <vt:lpstr>Cambria Math</vt:lpstr>
      <vt:lpstr>Garamond</vt:lpstr>
      <vt:lpstr>Times New Roman</vt:lpstr>
      <vt:lpstr>SavonVTI</vt:lpstr>
      <vt:lpstr>FAQ Matching System  csd 350  Natural Language Processing</vt:lpstr>
      <vt:lpstr>Motivation </vt:lpstr>
      <vt:lpstr>How to deal with problem ?</vt:lpstr>
      <vt:lpstr>System Pipeline </vt:lpstr>
      <vt:lpstr>Transformer Model : MiniLM</vt:lpstr>
      <vt:lpstr>Transformer Model : MiniLM</vt:lpstr>
      <vt:lpstr>Transformer Model : MiniLM</vt:lpstr>
      <vt:lpstr>Transformer Model : MiniLM</vt:lpstr>
      <vt:lpstr>Transformer Model : MiniLM</vt:lpstr>
      <vt:lpstr>Transformer Model : MiniLM</vt:lpstr>
      <vt:lpstr>Transformer Model : MiniLM</vt:lpstr>
      <vt:lpstr>Deployment </vt:lpstr>
      <vt:lpstr>Results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Ruchir Sharma</dc:creator>
  <cp:lastModifiedBy>Ruchir Sharma</cp:lastModifiedBy>
  <cp:revision>2</cp:revision>
  <dcterms:created xsi:type="dcterms:W3CDTF">2026-04-20T00:30:26Z</dcterms:created>
  <dcterms:modified xsi:type="dcterms:W3CDTF">2026-05-25T03:00:53Z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